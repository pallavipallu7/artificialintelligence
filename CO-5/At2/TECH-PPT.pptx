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353" autoAdjust="0"/>
  </p:normalViewPr>
  <p:slideViewPr>
    <p:cSldViewPr snapToGrid="0" snapToObjects="1">
      <p:cViewPr varScale="1">
        <p:scale>
          <a:sx n="68" d="100"/>
          <a:sy n="68" d="100"/>
        </p:scale>
        <p:origin x="123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g life" userId="f8726e46e814ba59" providerId="LiveId" clId="{B2A05AF2-AEDB-4940-A827-6FFA10E072A4}"/>
    <pc:docChg chg="custSel modSld">
      <pc:chgData name="thug life" userId="f8726e46e814ba59" providerId="LiveId" clId="{B2A05AF2-AEDB-4940-A827-6FFA10E072A4}" dt="2026-08-29T07:57:55.683" v="40" actId="20577"/>
      <pc:docMkLst>
        <pc:docMk/>
      </pc:docMkLst>
      <pc:sldChg chg="modNotesTx">
        <pc:chgData name="thug life" userId="f8726e46e814ba59" providerId="LiveId" clId="{B2A05AF2-AEDB-4940-A827-6FFA10E072A4}" dt="2026-08-29T07:53:57.427" v="5" actId="20577"/>
        <pc:sldMkLst>
          <pc:docMk/>
          <pc:sldMk cId="0" sldId="256"/>
        </pc:sldMkLst>
      </pc:sldChg>
      <pc:sldChg chg="modNotesTx">
        <pc:chgData name="thug life" userId="f8726e46e814ba59" providerId="LiveId" clId="{B2A05AF2-AEDB-4940-A827-6FFA10E072A4}" dt="2026-08-29T07:54:12.948" v="9" actId="403"/>
        <pc:sldMkLst>
          <pc:docMk/>
          <pc:sldMk cId="0" sldId="257"/>
        </pc:sldMkLst>
      </pc:sldChg>
      <pc:sldChg chg="modSp mod modNotesTx">
        <pc:chgData name="thug life" userId="f8726e46e814ba59" providerId="LiveId" clId="{B2A05AF2-AEDB-4940-A827-6FFA10E072A4}" dt="2026-08-29T07:57:55.683" v="40" actId="20577"/>
        <pc:sldMkLst>
          <pc:docMk/>
          <pc:sldMk cId="0" sldId="258"/>
        </pc:sldMkLst>
        <pc:spChg chg="mod">
          <ac:chgData name="thug life" userId="f8726e46e814ba59" providerId="LiveId" clId="{B2A05AF2-AEDB-4940-A827-6FFA10E072A4}" dt="2026-08-29T07:47:31.093" v="0" actId="403"/>
          <ac:spMkLst>
            <pc:docMk/>
            <pc:sldMk cId="0" sldId="258"/>
            <ac:spMk id="4" creationId="{00000000-0000-0000-0000-000000000000}"/>
          </ac:spMkLst>
        </pc:spChg>
        <pc:spChg chg="mod">
          <ac:chgData name="thug life" userId="f8726e46e814ba59" providerId="LiveId" clId="{B2A05AF2-AEDB-4940-A827-6FFA10E072A4}" dt="2026-08-29T07:47:35.379" v="1" actId="403"/>
          <ac:spMkLst>
            <pc:docMk/>
            <pc:sldMk cId="0" sldId="258"/>
            <ac:spMk id="18" creationId="{00000000-0000-0000-0000-000000000000}"/>
          </ac:spMkLst>
        </pc:spChg>
        <pc:spChg chg="mod">
          <ac:chgData name="thug life" userId="f8726e46e814ba59" providerId="LiveId" clId="{B2A05AF2-AEDB-4940-A827-6FFA10E072A4}" dt="2026-08-29T07:47:39.570" v="2" actId="403"/>
          <ac:spMkLst>
            <pc:docMk/>
            <pc:sldMk cId="0" sldId="258"/>
            <ac:spMk id="21" creationId="{00000000-0000-0000-0000-000000000000}"/>
          </ac:spMkLst>
        </pc:spChg>
      </pc:sldChg>
      <pc:sldChg chg="modNotesTx">
        <pc:chgData name="thug life" userId="f8726e46e814ba59" providerId="LiveId" clId="{B2A05AF2-AEDB-4940-A827-6FFA10E072A4}" dt="2026-08-29T07:57:41.739" v="39" actId="20577"/>
        <pc:sldMkLst>
          <pc:docMk/>
          <pc:sldMk cId="0" sldId="259"/>
        </pc:sldMkLst>
      </pc:sldChg>
      <pc:sldChg chg="modNotesTx">
        <pc:chgData name="thug life" userId="f8726e46e814ba59" providerId="LiveId" clId="{B2A05AF2-AEDB-4940-A827-6FFA10E072A4}" dt="2026-08-29T07:55:25.422" v="29" actId="313"/>
        <pc:sldMkLst>
          <pc:docMk/>
          <pc:sldMk cId="0" sldId="260"/>
        </pc:sldMkLst>
      </pc:sldChg>
      <pc:sldChg chg="modSp mod modNotesTx">
        <pc:chgData name="thug life" userId="f8726e46e814ba59" providerId="LiveId" clId="{B2A05AF2-AEDB-4940-A827-6FFA10E072A4}" dt="2026-08-29T07:55:56.951" v="34" actId="20577"/>
        <pc:sldMkLst>
          <pc:docMk/>
          <pc:sldMk cId="0" sldId="261"/>
        </pc:sldMkLst>
        <pc:spChg chg="mod">
          <ac:chgData name="thug life" userId="f8726e46e814ba59" providerId="LiveId" clId="{B2A05AF2-AEDB-4940-A827-6FFA10E072A4}" dt="2026-08-29T07:51:02.563" v="4" actId="403"/>
          <ac:spMkLst>
            <pc:docMk/>
            <pc:sldMk cId="0" sldId="261"/>
            <ac:spMk id="4" creationId="{00000000-0000-0000-0000-000000000000}"/>
          </ac:spMkLst>
        </pc:spChg>
      </pc:sldChg>
      <pc:sldChg chg="modNotesTx">
        <pc:chgData name="thug life" userId="f8726e46e814ba59" providerId="LiveId" clId="{B2A05AF2-AEDB-4940-A827-6FFA10E072A4}" dt="2026-08-29T07:56:16.524" v="37" actId="20577"/>
        <pc:sldMkLst>
          <pc:docMk/>
          <pc:sldMk cId="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61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"Today I'm going to walk you through what actually happens inside an AI chatbot between the moment you hit send and the moment it replies. </a:t>
            </a:r>
          </a:p>
          <a:p>
            <a:pPr rtl="0"/>
            <a:r>
              <a:rPr lang="en-IN" dirty="0"/>
              <a:t>It comes down to four stages, and we'll go through each one with a simple example."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sz="1800" b="1" dirty="0"/>
              <a:t>Slide 2 — The Big Picture</a:t>
            </a:r>
            <a:br>
              <a:rPr lang="en-IN" sz="1800" dirty="0"/>
            </a:br>
            <a:r>
              <a:rPr lang="en-IN" sz="1800" dirty="0"/>
              <a:t>"Every single message you send goes through the same four-step pipeline — it doesn't matter if you're asking a simple question or something complex. </a:t>
            </a:r>
          </a:p>
          <a:p>
            <a:pPr rtl="0"/>
            <a:r>
              <a:rPr lang="en-IN" sz="1800" dirty="0"/>
              <a:t>First the text gets tokenized, then converted into numbers called embeddings, then the model uses attention to understand how words relate to each other, and finally it generates a response one word at a time. I'll take each of these one at a time."</a:t>
            </a:r>
          </a:p>
          <a:p>
            <a:endParaRPr lang="en-US" sz="180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sz="1600" b="1" dirty="0"/>
              <a:t>Slide 3 — Tokenization</a:t>
            </a:r>
            <a:br>
              <a:rPr lang="en-IN" sz="1600" dirty="0"/>
            </a:br>
            <a:r>
              <a:rPr lang="en-IN" sz="1600" dirty="0"/>
              <a:t>"The first thing that happens is the model breaks your sentence into small chunks called </a:t>
            </a:r>
            <a:r>
              <a:rPr lang="en-IN" sz="1600"/>
              <a:t>tokens.</a:t>
            </a:r>
          </a:p>
          <a:p>
            <a:pPr rtl="0"/>
            <a:endParaRPr lang="en-IN" sz="1600" dirty="0"/>
          </a:p>
          <a:p>
            <a:pPr rtl="0"/>
            <a:r>
              <a:rPr lang="en-IN" sz="1600" dirty="0"/>
              <a:t> Here I've taken the sentence 'I love chatbots!' — notice how 'chatbots' actually splits into two pieces, 'chat' and 'bots’.</a:t>
            </a:r>
          </a:p>
          <a:p>
            <a:pPr rtl="0"/>
            <a:r>
              <a:rPr lang="en-IN" sz="1600" dirty="0"/>
              <a:t> That's because the model has a fixed vocabulary it was trained on, so less common words get built out of smaller familiar pieces rather than being their own token. </a:t>
            </a:r>
          </a:p>
          <a:p>
            <a:pPr rtl="0"/>
            <a:r>
              <a:rPr lang="en-IN" sz="1600" dirty="0"/>
              <a:t>Each of these tokens then gets mapped to a number — an ID — which is the form the model actually works with </a:t>
            </a:r>
            <a:r>
              <a:rPr lang="en-IN" sz="1800" dirty="0"/>
              <a:t>internally."</a:t>
            </a:r>
          </a:p>
          <a:p>
            <a:endParaRPr lang="en-US" sz="16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b="1" dirty="0"/>
              <a:t>Slide 4 — Embeddings</a:t>
            </a:r>
            <a:br>
              <a:rPr lang="en-IN" dirty="0"/>
            </a:br>
            <a:r>
              <a:rPr lang="en-IN" dirty="0"/>
              <a:t>"Once we have tokens, each one gets converted into a list of numbers called a vector — this is what we call an embedding. </a:t>
            </a:r>
          </a:p>
          <a:p>
            <a:pPr rtl="0"/>
            <a:endParaRPr lang="en-IN" dirty="0"/>
          </a:p>
          <a:p>
            <a:pPr rtl="0"/>
            <a:r>
              <a:rPr lang="en-IN" dirty="0"/>
              <a:t>The key idea is that words with similar meanings end up close together in this numerical space. </a:t>
            </a:r>
          </a:p>
          <a:p>
            <a:pPr rtl="0"/>
            <a:endParaRPr lang="en-IN" dirty="0"/>
          </a:p>
          <a:p>
            <a:pPr rtl="0"/>
            <a:r>
              <a:rPr lang="en-IN" dirty="0"/>
              <a:t>So on this simplified map, you can see 'dog', 'cat', and 'puppy' cluster together because they're all animals, while 'car' and 'truck' cluster separately as vehicles. </a:t>
            </a:r>
          </a:p>
          <a:p>
            <a:pPr rtl="0"/>
            <a:r>
              <a:rPr lang="en-IN" dirty="0"/>
              <a:t>This is what lets the model treat meaning mathematically — there's actually a famous example where if you take the vector for 'King', subtract 'Man', and add 'Woman', you land close to the vector for 'Queen’. </a:t>
            </a:r>
          </a:p>
          <a:p>
            <a:pPr rtl="0"/>
            <a:r>
              <a:rPr lang="en-IN" dirty="0"/>
              <a:t>That's meaning encoded as direction in space."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b="1" dirty="0"/>
              <a:t>Slide 5 — Attention</a:t>
            </a:r>
            <a:br>
              <a:rPr lang="en-IN" dirty="0"/>
            </a:br>
            <a:r>
              <a:rPr lang="en-IN" dirty="0"/>
              <a:t>"This is where the Transformer architecture comes in — this is the core innovation behind basically all modern chatbots.</a:t>
            </a:r>
          </a:p>
          <a:p>
            <a:pPr rtl="0"/>
            <a:r>
              <a:rPr lang="en-IN" dirty="0"/>
              <a:t> The idea is self-attention: every word in the sentence gets to look at every other word and weigh how relevant it is. </a:t>
            </a:r>
          </a:p>
          <a:p>
            <a:pPr rtl="0"/>
            <a:endParaRPr lang="en-IN" dirty="0"/>
          </a:p>
          <a:p>
            <a:pPr rtl="0"/>
            <a:r>
              <a:rPr lang="en-IN" dirty="0"/>
              <a:t>Here's a classic example — 'The trophy didn't fit in the bag because it was too big.’ </a:t>
            </a:r>
          </a:p>
          <a:p>
            <a:pPr rtl="0"/>
            <a:r>
              <a:rPr lang="en-IN" dirty="0"/>
              <a:t>When we get to the word 'it', how does the model know whether 'it' refers to the trophy or the bag?</a:t>
            </a:r>
          </a:p>
          <a:p>
            <a:pPr rtl="0"/>
            <a:r>
              <a:rPr lang="en-IN" dirty="0"/>
              <a:t> Through attention, the model learns to link 'it' strongly back to 'trophy', not 'bag' — based on context, not just word order. </a:t>
            </a:r>
          </a:p>
          <a:p>
            <a:pPr rtl="0"/>
            <a:endParaRPr lang="en-IN" dirty="0"/>
          </a:p>
          <a:p>
            <a:pPr rtl="0"/>
            <a:r>
              <a:rPr lang="en-IN" dirty="0"/>
              <a:t>And this happens in parallel across the whole sentence, not word by word, which is also why these models can connect words that are far apart from each other, and why they run multiple attention 'heads' at once to catch different kinds of relationships."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b="1" dirty="0"/>
              <a:t>Slide 6 — Generation</a:t>
            </a:r>
            <a:br>
              <a:rPr lang="en-IN" dirty="0"/>
            </a:br>
            <a:r>
              <a:rPr lang="en-IN" dirty="0"/>
              <a:t>"Now that the model understands the input, how does it actually write a reply? </a:t>
            </a:r>
          </a:p>
          <a:p>
            <a:pPr rtl="0"/>
            <a:r>
              <a:rPr lang="en-IN" dirty="0"/>
              <a:t>It doesn't look anything up — it predicts the single most likely next word, based on probability.</a:t>
            </a:r>
          </a:p>
          <a:p>
            <a:pPr rtl="0"/>
            <a:r>
              <a:rPr lang="en-IN" dirty="0"/>
              <a:t> So if the text so far is 'The weather today is', the model might assign 42% probability to 'sunny', 27% to 'cloudy', and so on, and it picks from those. </a:t>
            </a:r>
          </a:p>
          <a:p>
            <a:pPr rtl="0"/>
            <a:r>
              <a:rPr lang="en-IN" dirty="0"/>
              <a:t>Then — and this is the important part — it adds that word to the text and feeds the whole thing back into itself to predict the next word. </a:t>
            </a:r>
          </a:p>
          <a:p>
            <a:pPr rtl="0"/>
            <a:r>
              <a:rPr lang="en-IN" dirty="0"/>
              <a:t>It repeats this loop, one token at a time, until it reaches a natural stopping point. </a:t>
            </a:r>
          </a:p>
          <a:p>
            <a:pPr rtl="0"/>
            <a:r>
              <a:rPr lang="en-IN" dirty="0"/>
              <a:t>That's genuinely it — the entire reply is built one predicted word after another."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Slide 7 — Key Takeaways</a:t>
            </a:r>
            <a:br>
              <a:rPr lang="en-IN" dirty="0"/>
            </a:br>
            <a:r>
              <a:rPr lang="en-IN" dirty="0"/>
              <a:t>"So to bring it all together: tokenize breaks the text into pieces, embed turns those pieces into meaningful numbers, attend figures out how all the words relate to each other, and generate predicts the reply one word at a time.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I think the most important thing to walk away with is this: none of this involves the model actually 'knowing' language the way a person does.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It's pattern and probability, learned from enormous amounts of text.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That's genuinely how it works — and hopefully that demystifies it a bit. Happy to take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9EB3-D121-3D97-4354-43D2A625F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CFED9-41E3-BBF3-7456-DB2FFD858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135B5-EA05-9AFF-CD3A-885A16571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0435D-78BD-DCED-740D-4C39CBEAB0A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5671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flipV="1">
            <a:off x="8869680" y="822960"/>
            <a:ext cx="832104" cy="731520"/>
          </a:xfrm>
          <a:prstGeom prst="line">
            <a:avLst/>
          </a:prstGeom>
          <a:noFill/>
          <a:ln w="12700">
            <a:solidFill>
              <a:srgbClr val="22D3EE">
                <a:alpha val="45000"/>
              </a:srgbClr>
            </a:solidFill>
            <a:prstDash val="solid"/>
          </a:ln>
        </p:spPr>
      </p:sp>
      <p:sp>
        <p:nvSpPr>
          <p:cNvPr id="3" name="Shape 1"/>
          <p:cNvSpPr/>
          <p:nvPr/>
        </p:nvSpPr>
        <p:spPr>
          <a:xfrm>
            <a:off x="8869680" y="1554480"/>
            <a:ext cx="832104" cy="731520"/>
          </a:xfrm>
          <a:prstGeom prst="line">
            <a:avLst/>
          </a:prstGeom>
          <a:noFill/>
          <a:ln w="12700">
            <a:solidFill>
              <a:srgbClr val="22D3EE">
                <a:alpha val="45000"/>
              </a:srgbClr>
            </a:solidFill>
            <a:prstDash val="solid"/>
          </a:ln>
        </p:spPr>
      </p:sp>
      <p:sp>
        <p:nvSpPr>
          <p:cNvPr id="4" name="Shape 2"/>
          <p:cNvSpPr/>
          <p:nvPr/>
        </p:nvSpPr>
        <p:spPr>
          <a:xfrm>
            <a:off x="9701784" y="822960"/>
            <a:ext cx="832104" cy="365760"/>
          </a:xfrm>
          <a:prstGeom prst="line">
            <a:avLst/>
          </a:prstGeom>
          <a:noFill/>
          <a:ln w="12700">
            <a:solidFill>
              <a:srgbClr val="22D3EE">
                <a:alpha val="45000"/>
              </a:srgbClr>
            </a:solidFill>
            <a:prstDash val="solid"/>
          </a:ln>
        </p:spPr>
      </p:sp>
      <p:sp>
        <p:nvSpPr>
          <p:cNvPr id="5" name="Shape 3"/>
          <p:cNvSpPr/>
          <p:nvPr/>
        </p:nvSpPr>
        <p:spPr>
          <a:xfrm flipV="1">
            <a:off x="9701784" y="1920240"/>
            <a:ext cx="832104" cy="365760"/>
          </a:xfrm>
          <a:prstGeom prst="line">
            <a:avLst/>
          </a:prstGeom>
          <a:noFill/>
          <a:ln w="12700">
            <a:solidFill>
              <a:srgbClr val="22D3EE">
                <a:alpha val="45000"/>
              </a:srgbClr>
            </a:solidFill>
            <a:prstDash val="solid"/>
          </a:ln>
        </p:spPr>
      </p:sp>
      <p:sp>
        <p:nvSpPr>
          <p:cNvPr id="6" name="Shape 4"/>
          <p:cNvSpPr/>
          <p:nvPr/>
        </p:nvSpPr>
        <p:spPr>
          <a:xfrm>
            <a:off x="9701784" y="822960"/>
            <a:ext cx="832104" cy="1097280"/>
          </a:xfrm>
          <a:prstGeom prst="line">
            <a:avLst/>
          </a:prstGeom>
          <a:noFill/>
          <a:ln w="12700">
            <a:solidFill>
              <a:srgbClr val="22D3EE">
                <a:alpha val="45000"/>
              </a:srgbClr>
            </a:solidFill>
            <a:prstDash val="solid"/>
          </a:ln>
        </p:spPr>
      </p:sp>
      <p:sp>
        <p:nvSpPr>
          <p:cNvPr id="7" name="Shape 5"/>
          <p:cNvSpPr/>
          <p:nvPr/>
        </p:nvSpPr>
        <p:spPr>
          <a:xfrm flipV="1">
            <a:off x="9701784" y="1188720"/>
            <a:ext cx="832104" cy="1097280"/>
          </a:xfrm>
          <a:prstGeom prst="line">
            <a:avLst/>
          </a:prstGeom>
          <a:noFill/>
          <a:ln w="12700">
            <a:solidFill>
              <a:srgbClr val="22D3EE">
                <a:alpha val="45000"/>
              </a:srgbClr>
            </a:solidFill>
            <a:prstDash val="solid"/>
          </a:ln>
        </p:spPr>
      </p:sp>
      <p:sp>
        <p:nvSpPr>
          <p:cNvPr id="8" name="Shape 6"/>
          <p:cNvSpPr/>
          <p:nvPr/>
        </p:nvSpPr>
        <p:spPr>
          <a:xfrm>
            <a:off x="10533888" y="1188720"/>
            <a:ext cx="713232" cy="365760"/>
          </a:xfrm>
          <a:prstGeom prst="line">
            <a:avLst/>
          </a:prstGeom>
          <a:noFill/>
          <a:ln w="12700">
            <a:solidFill>
              <a:srgbClr val="22D3EE">
                <a:alpha val="45000"/>
              </a:srgbClr>
            </a:solidFill>
            <a:prstDash val="solid"/>
          </a:ln>
        </p:spPr>
      </p:sp>
      <p:sp>
        <p:nvSpPr>
          <p:cNvPr id="9" name="Shape 7"/>
          <p:cNvSpPr/>
          <p:nvPr/>
        </p:nvSpPr>
        <p:spPr>
          <a:xfrm flipV="1">
            <a:off x="10533888" y="1554480"/>
            <a:ext cx="713232" cy="365760"/>
          </a:xfrm>
          <a:prstGeom prst="line">
            <a:avLst/>
          </a:prstGeom>
          <a:noFill/>
          <a:ln w="12700">
            <a:solidFill>
              <a:srgbClr val="22D3EE">
                <a:alpha val="45000"/>
              </a:srgbClr>
            </a:solidFill>
            <a:prstDash val="solid"/>
          </a:ln>
        </p:spPr>
      </p:sp>
      <p:sp>
        <p:nvSpPr>
          <p:cNvPr id="10" name="Shape 8"/>
          <p:cNvSpPr/>
          <p:nvPr/>
        </p:nvSpPr>
        <p:spPr>
          <a:xfrm>
            <a:off x="8801100" y="1485900"/>
            <a:ext cx="137160" cy="137160"/>
          </a:xfrm>
          <a:prstGeom prst="ellipse">
            <a:avLst/>
          </a:prstGeom>
          <a:solidFill>
            <a:srgbClr val="22D3EE"/>
          </a:solidFill>
          <a:ln/>
        </p:spPr>
      </p:sp>
      <p:sp>
        <p:nvSpPr>
          <p:cNvPr id="11" name="Shape 9"/>
          <p:cNvSpPr/>
          <p:nvPr/>
        </p:nvSpPr>
        <p:spPr>
          <a:xfrm>
            <a:off x="9656064" y="777240"/>
            <a:ext cx="91440" cy="91440"/>
          </a:xfrm>
          <a:prstGeom prst="ellipse">
            <a:avLst/>
          </a:prstGeom>
          <a:solidFill>
            <a:srgbClr val="22D3EE"/>
          </a:solidFill>
          <a:ln/>
        </p:spPr>
      </p:sp>
      <p:sp>
        <p:nvSpPr>
          <p:cNvPr id="12" name="Shape 10"/>
          <p:cNvSpPr/>
          <p:nvPr/>
        </p:nvSpPr>
        <p:spPr>
          <a:xfrm>
            <a:off x="9656064" y="2240280"/>
            <a:ext cx="91440" cy="91440"/>
          </a:xfrm>
          <a:prstGeom prst="ellipse">
            <a:avLst/>
          </a:prstGeom>
          <a:solidFill>
            <a:srgbClr val="22D3EE"/>
          </a:solidFill>
          <a:ln/>
        </p:spPr>
      </p:sp>
      <p:sp>
        <p:nvSpPr>
          <p:cNvPr id="13" name="Shape 11"/>
          <p:cNvSpPr/>
          <p:nvPr/>
        </p:nvSpPr>
        <p:spPr>
          <a:xfrm>
            <a:off x="10488168" y="1143000"/>
            <a:ext cx="91440" cy="91440"/>
          </a:xfrm>
          <a:prstGeom prst="ellipse">
            <a:avLst/>
          </a:prstGeom>
          <a:solidFill>
            <a:srgbClr val="22D3EE"/>
          </a:solidFill>
          <a:ln/>
        </p:spPr>
      </p:sp>
      <p:sp>
        <p:nvSpPr>
          <p:cNvPr id="14" name="Shape 12"/>
          <p:cNvSpPr/>
          <p:nvPr/>
        </p:nvSpPr>
        <p:spPr>
          <a:xfrm>
            <a:off x="10488168" y="1874520"/>
            <a:ext cx="91440" cy="91440"/>
          </a:xfrm>
          <a:prstGeom prst="ellipse">
            <a:avLst/>
          </a:prstGeom>
          <a:solidFill>
            <a:srgbClr val="22D3EE"/>
          </a:solidFill>
          <a:ln/>
        </p:spPr>
      </p:sp>
      <p:sp>
        <p:nvSpPr>
          <p:cNvPr id="15" name="Shape 13"/>
          <p:cNvSpPr/>
          <p:nvPr/>
        </p:nvSpPr>
        <p:spPr>
          <a:xfrm>
            <a:off x="11178540" y="1485900"/>
            <a:ext cx="137160" cy="137160"/>
          </a:xfrm>
          <a:prstGeom prst="ellipse">
            <a:avLst/>
          </a:prstGeom>
          <a:solidFill>
            <a:srgbClr val="22D3EE"/>
          </a:solidFill>
          <a:ln/>
        </p:spPr>
      </p:sp>
      <p:sp>
        <p:nvSpPr>
          <p:cNvPr id="16" name="Shape 14"/>
          <p:cNvSpPr/>
          <p:nvPr/>
        </p:nvSpPr>
        <p:spPr>
          <a:xfrm flipV="1">
            <a:off x="640080" y="4937760"/>
            <a:ext cx="736092" cy="640080"/>
          </a:xfrm>
          <a:prstGeom prst="line">
            <a:avLst/>
          </a:prstGeom>
          <a:noFill/>
          <a:ln w="12700">
            <a:solidFill>
              <a:srgbClr val="C7C3F0">
                <a:alpha val="45000"/>
              </a:srgbClr>
            </a:solidFill>
            <a:prstDash val="solid"/>
          </a:ln>
        </p:spPr>
      </p:sp>
      <p:sp>
        <p:nvSpPr>
          <p:cNvPr id="17" name="Shape 15"/>
          <p:cNvSpPr/>
          <p:nvPr/>
        </p:nvSpPr>
        <p:spPr>
          <a:xfrm>
            <a:off x="640080" y="5577840"/>
            <a:ext cx="736092" cy="640080"/>
          </a:xfrm>
          <a:prstGeom prst="line">
            <a:avLst/>
          </a:prstGeom>
          <a:noFill/>
          <a:ln w="12700">
            <a:solidFill>
              <a:srgbClr val="C7C3F0">
                <a:alpha val="45000"/>
              </a:srgbClr>
            </a:solidFill>
            <a:prstDash val="solid"/>
          </a:ln>
        </p:spPr>
      </p:sp>
      <p:sp>
        <p:nvSpPr>
          <p:cNvPr id="18" name="Shape 16"/>
          <p:cNvSpPr/>
          <p:nvPr/>
        </p:nvSpPr>
        <p:spPr>
          <a:xfrm>
            <a:off x="1376172" y="4937760"/>
            <a:ext cx="736092" cy="320040"/>
          </a:xfrm>
          <a:prstGeom prst="line">
            <a:avLst/>
          </a:prstGeom>
          <a:noFill/>
          <a:ln w="12700">
            <a:solidFill>
              <a:srgbClr val="C7C3F0">
                <a:alpha val="45000"/>
              </a:srgbClr>
            </a:solidFill>
            <a:prstDash val="solid"/>
          </a:ln>
        </p:spPr>
      </p:sp>
      <p:sp>
        <p:nvSpPr>
          <p:cNvPr id="19" name="Shape 17"/>
          <p:cNvSpPr/>
          <p:nvPr/>
        </p:nvSpPr>
        <p:spPr>
          <a:xfrm flipV="1">
            <a:off x="1376172" y="5897880"/>
            <a:ext cx="736092" cy="320040"/>
          </a:xfrm>
          <a:prstGeom prst="line">
            <a:avLst/>
          </a:prstGeom>
          <a:noFill/>
          <a:ln w="12700">
            <a:solidFill>
              <a:srgbClr val="C7C3F0">
                <a:alpha val="45000"/>
              </a:srgbClr>
            </a:solidFill>
            <a:prstDash val="solid"/>
          </a:ln>
        </p:spPr>
      </p:sp>
      <p:sp>
        <p:nvSpPr>
          <p:cNvPr id="20" name="Shape 18"/>
          <p:cNvSpPr/>
          <p:nvPr/>
        </p:nvSpPr>
        <p:spPr>
          <a:xfrm>
            <a:off x="1376172" y="4937760"/>
            <a:ext cx="736092" cy="960120"/>
          </a:xfrm>
          <a:prstGeom prst="line">
            <a:avLst/>
          </a:prstGeom>
          <a:noFill/>
          <a:ln w="12700">
            <a:solidFill>
              <a:srgbClr val="C7C3F0">
                <a:alpha val="45000"/>
              </a:srgbClr>
            </a:solidFill>
            <a:prstDash val="solid"/>
          </a:ln>
        </p:spPr>
      </p:sp>
      <p:sp>
        <p:nvSpPr>
          <p:cNvPr id="21" name="Shape 19"/>
          <p:cNvSpPr/>
          <p:nvPr/>
        </p:nvSpPr>
        <p:spPr>
          <a:xfrm flipV="1">
            <a:off x="1376172" y="5257800"/>
            <a:ext cx="736092" cy="960120"/>
          </a:xfrm>
          <a:prstGeom prst="line">
            <a:avLst/>
          </a:prstGeom>
          <a:noFill/>
          <a:ln w="12700">
            <a:solidFill>
              <a:srgbClr val="C7C3F0">
                <a:alpha val="45000"/>
              </a:srgbClr>
            </a:solidFill>
            <a:prstDash val="solid"/>
          </a:ln>
        </p:spPr>
      </p:sp>
      <p:sp>
        <p:nvSpPr>
          <p:cNvPr id="22" name="Shape 20"/>
          <p:cNvSpPr/>
          <p:nvPr/>
        </p:nvSpPr>
        <p:spPr>
          <a:xfrm>
            <a:off x="2112264" y="5257800"/>
            <a:ext cx="630936" cy="320040"/>
          </a:xfrm>
          <a:prstGeom prst="line">
            <a:avLst/>
          </a:prstGeom>
          <a:noFill/>
          <a:ln w="12700">
            <a:solidFill>
              <a:srgbClr val="C7C3F0">
                <a:alpha val="45000"/>
              </a:srgbClr>
            </a:solidFill>
            <a:prstDash val="solid"/>
          </a:ln>
        </p:spPr>
      </p:sp>
      <p:sp>
        <p:nvSpPr>
          <p:cNvPr id="23" name="Shape 21"/>
          <p:cNvSpPr/>
          <p:nvPr/>
        </p:nvSpPr>
        <p:spPr>
          <a:xfrm flipV="1">
            <a:off x="2112264" y="5577840"/>
            <a:ext cx="630936" cy="320040"/>
          </a:xfrm>
          <a:prstGeom prst="line">
            <a:avLst/>
          </a:prstGeom>
          <a:noFill/>
          <a:ln w="12700">
            <a:solidFill>
              <a:srgbClr val="C7C3F0">
                <a:alpha val="45000"/>
              </a:srgbClr>
            </a:solidFill>
            <a:prstDash val="solid"/>
          </a:ln>
        </p:spPr>
      </p:sp>
      <p:sp>
        <p:nvSpPr>
          <p:cNvPr id="24" name="Shape 22"/>
          <p:cNvSpPr/>
          <p:nvPr/>
        </p:nvSpPr>
        <p:spPr>
          <a:xfrm>
            <a:off x="571500" y="5509260"/>
            <a:ext cx="137160" cy="137160"/>
          </a:xfrm>
          <a:prstGeom prst="ellipse">
            <a:avLst/>
          </a:prstGeom>
          <a:solidFill>
            <a:srgbClr val="C7C3F0"/>
          </a:solidFill>
          <a:ln/>
        </p:spPr>
      </p:sp>
      <p:sp>
        <p:nvSpPr>
          <p:cNvPr id="25" name="Shape 23"/>
          <p:cNvSpPr/>
          <p:nvPr/>
        </p:nvSpPr>
        <p:spPr>
          <a:xfrm>
            <a:off x="1330452" y="4892040"/>
            <a:ext cx="91440" cy="91440"/>
          </a:xfrm>
          <a:prstGeom prst="ellipse">
            <a:avLst/>
          </a:prstGeom>
          <a:solidFill>
            <a:srgbClr val="C7C3F0"/>
          </a:solidFill>
          <a:ln/>
        </p:spPr>
      </p:sp>
      <p:sp>
        <p:nvSpPr>
          <p:cNvPr id="26" name="Shape 24"/>
          <p:cNvSpPr/>
          <p:nvPr/>
        </p:nvSpPr>
        <p:spPr>
          <a:xfrm>
            <a:off x="1330452" y="6172200"/>
            <a:ext cx="91440" cy="91440"/>
          </a:xfrm>
          <a:prstGeom prst="ellipse">
            <a:avLst/>
          </a:prstGeom>
          <a:solidFill>
            <a:srgbClr val="C7C3F0"/>
          </a:solidFill>
          <a:ln/>
        </p:spPr>
      </p:sp>
      <p:sp>
        <p:nvSpPr>
          <p:cNvPr id="27" name="Shape 25"/>
          <p:cNvSpPr/>
          <p:nvPr/>
        </p:nvSpPr>
        <p:spPr>
          <a:xfrm>
            <a:off x="2066544" y="5212080"/>
            <a:ext cx="91440" cy="91440"/>
          </a:xfrm>
          <a:prstGeom prst="ellipse">
            <a:avLst/>
          </a:prstGeom>
          <a:solidFill>
            <a:srgbClr val="C7C3F0"/>
          </a:solidFill>
          <a:ln/>
        </p:spPr>
      </p:sp>
      <p:sp>
        <p:nvSpPr>
          <p:cNvPr id="28" name="Shape 26"/>
          <p:cNvSpPr/>
          <p:nvPr/>
        </p:nvSpPr>
        <p:spPr>
          <a:xfrm>
            <a:off x="2066544" y="5852160"/>
            <a:ext cx="91440" cy="91440"/>
          </a:xfrm>
          <a:prstGeom prst="ellipse">
            <a:avLst/>
          </a:prstGeom>
          <a:solidFill>
            <a:srgbClr val="C7C3F0"/>
          </a:solidFill>
          <a:ln/>
        </p:spPr>
      </p:sp>
      <p:sp>
        <p:nvSpPr>
          <p:cNvPr id="29" name="Shape 27"/>
          <p:cNvSpPr/>
          <p:nvPr/>
        </p:nvSpPr>
        <p:spPr>
          <a:xfrm>
            <a:off x="2674620" y="5509260"/>
            <a:ext cx="137160" cy="137160"/>
          </a:xfrm>
          <a:prstGeom prst="ellipse">
            <a:avLst/>
          </a:prstGeom>
          <a:solidFill>
            <a:srgbClr val="C7C3F0"/>
          </a:solidFill>
          <a:ln/>
        </p:spPr>
      </p:sp>
      <p:sp>
        <p:nvSpPr>
          <p:cNvPr id="30" name="Text 28"/>
          <p:cNvSpPr/>
          <p:nvPr/>
        </p:nvSpPr>
        <p:spPr>
          <a:xfrm>
            <a:off x="822960" y="1965960"/>
            <a:ext cx="7315200" cy="365760"/>
          </a:xfrm>
          <a:prstGeom prst="rect">
            <a:avLst/>
          </a:prstGeom>
          <a:noFill/>
          <a:ln/>
        </p:spPr>
        <p:txBody>
          <a:bodyPr wrap="square"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TECHNICAL PRESENTATION</a:t>
            </a:r>
            <a:endParaRPr lang="en-US" sz="1300" dirty="0"/>
          </a:p>
        </p:txBody>
      </p:sp>
      <p:sp>
        <p:nvSpPr>
          <p:cNvPr id="31" name="Text 29"/>
          <p:cNvSpPr/>
          <p:nvPr/>
        </p:nvSpPr>
        <p:spPr>
          <a:xfrm>
            <a:off x="822960" y="2377440"/>
            <a:ext cx="9875520" cy="192024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How AI Chatbots</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Understand Human Language</a:t>
            </a:r>
            <a:endParaRPr lang="en-US" sz="4000" dirty="0"/>
          </a:p>
        </p:txBody>
      </p:sp>
      <p:sp>
        <p:nvSpPr>
          <p:cNvPr id="32" name="Text 30"/>
          <p:cNvSpPr/>
          <p:nvPr/>
        </p:nvSpPr>
        <p:spPr>
          <a:xfrm>
            <a:off x="822960" y="4229100"/>
            <a:ext cx="8686800" cy="731520"/>
          </a:xfrm>
          <a:prstGeom prst="rect">
            <a:avLst/>
          </a:prstGeom>
          <a:noFill/>
          <a:ln/>
        </p:spPr>
        <p:txBody>
          <a:bodyPr wrap="square" rtlCol="0" anchor="ctr"/>
          <a:lstStyle/>
          <a:p>
            <a:pPr marL="0" indent="0">
              <a:buNone/>
            </a:pPr>
            <a:r>
              <a:rPr lang="en-US" sz="1500" i="1" dirty="0">
                <a:solidFill>
                  <a:srgbClr val="C7C3F0"/>
                </a:solidFill>
                <a:latin typeface="Calibri" pitchFamily="34" charset="0"/>
                <a:ea typeface="Calibri" pitchFamily="34" charset="-122"/>
                <a:cs typeface="Calibri" pitchFamily="34" charset="-120"/>
              </a:rPr>
              <a:t>A step-by-step look at the pipeline that turns your words into a machine's reply — tokens, embeddings, attention, and generation.</a:t>
            </a:r>
            <a:endParaRPr lang="en-US" sz="1500" dirty="0"/>
          </a:p>
        </p:txBody>
      </p:sp>
      <p:sp>
        <p:nvSpPr>
          <p:cNvPr id="33" name="Shape 31"/>
          <p:cNvSpPr/>
          <p:nvPr/>
        </p:nvSpPr>
        <p:spPr>
          <a:xfrm>
            <a:off x="822960" y="4206240"/>
            <a:ext cx="1280160" cy="0"/>
          </a:xfrm>
          <a:prstGeom prst="line">
            <a:avLst/>
          </a:prstGeom>
          <a:noFill/>
          <a:ln w="31750">
            <a:solidFill>
              <a:srgbClr val="22D3EE"/>
            </a:solidFill>
            <a:prstDash val="solid"/>
          </a:ln>
        </p:spPr>
      </p:sp>
      <p:sp>
        <p:nvSpPr>
          <p:cNvPr id="35" name="TextBox 34">
            <a:extLst>
              <a:ext uri="{FF2B5EF4-FFF2-40B4-BE49-F238E27FC236}">
                <a16:creationId xmlns:a16="http://schemas.microsoft.com/office/drawing/2014/main" id="{6B7E7B25-5E2E-2B65-E005-D578C63FC30F}"/>
              </a:ext>
            </a:extLst>
          </p:cNvPr>
          <p:cNvSpPr txBox="1"/>
          <p:nvPr/>
        </p:nvSpPr>
        <p:spPr>
          <a:xfrm>
            <a:off x="8839356" y="5911706"/>
            <a:ext cx="3119316" cy="338554"/>
          </a:xfrm>
          <a:prstGeom prst="rect">
            <a:avLst/>
          </a:prstGeom>
          <a:noFill/>
        </p:spPr>
        <p:txBody>
          <a:bodyPr wrap="square">
            <a:spAutoFit/>
          </a:bodyPr>
          <a:lstStyle/>
          <a:p>
            <a:pPr marL="0" indent="0">
              <a:buNone/>
            </a:pPr>
            <a:r>
              <a:rPr lang="en-US" sz="1600" b="1" kern="0" spc="300" dirty="0">
                <a:solidFill>
                  <a:srgbClr val="22D3EE"/>
                </a:solidFill>
                <a:latin typeface="Calibri" pitchFamily="34" charset="0"/>
                <a:ea typeface="Calibri" pitchFamily="34" charset="-122"/>
                <a:cs typeface="Calibri" pitchFamily="34" charset="-120"/>
              </a:rPr>
              <a:t>Pallavi G -192311208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4C3FB4"/>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48640" y="777240"/>
            <a:ext cx="10058400" cy="640080"/>
          </a:xfrm>
          <a:prstGeom prst="rect">
            <a:avLst/>
          </a:prstGeom>
          <a:noFill/>
          <a:ln/>
        </p:spPr>
        <p:txBody>
          <a:bodyPr wrap="square" rtlCol="0" anchor="ctr"/>
          <a:lstStyle/>
          <a:p>
            <a:pPr marL="0" indent="0">
              <a:buNone/>
            </a:pPr>
            <a:r>
              <a:rPr lang="en-US" sz="3000" b="1" dirty="0">
                <a:solidFill>
                  <a:srgbClr val="1E1B4B"/>
                </a:solidFill>
                <a:latin typeface="Cambria" pitchFamily="34" charset="0"/>
                <a:ea typeface="Cambria" pitchFamily="34" charset="-122"/>
                <a:cs typeface="Cambria" pitchFamily="34" charset="-120"/>
              </a:rPr>
              <a:t>One message, four stages</a:t>
            </a:r>
            <a:endParaRPr lang="en-US" sz="3000" dirty="0"/>
          </a:p>
        </p:txBody>
      </p:sp>
      <p:sp>
        <p:nvSpPr>
          <p:cNvPr id="4" name="Text 2"/>
          <p:cNvSpPr/>
          <p:nvPr/>
        </p:nvSpPr>
        <p:spPr>
          <a:xfrm>
            <a:off x="548640" y="1371600"/>
            <a:ext cx="10241280" cy="457200"/>
          </a:xfrm>
          <a:prstGeom prst="rect">
            <a:avLst/>
          </a:prstGeom>
          <a:noFill/>
          <a:ln/>
        </p:spPr>
        <p:txBody>
          <a:bodyPr wrap="square" rtlCol="0" anchor="ctr"/>
          <a:lstStyle/>
          <a:p>
            <a:pPr marL="0" indent="0">
              <a:buNone/>
            </a:pPr>
            <a:r>
              <a:rPr lang="en-US" sz="1400" dirty="0">
                <a:solidFill>
                  <a:srgbClr val="6B6E85"/>
                </a:solidFill>
                <a:latin typeface="Calibri" pitchFamily="34" charset="0"/>
                <a:ea typeface="Calibri" pitchFamily="34" charset="-122"/>
                <a:cs typeface="Calibri" pitchFamily="34" charset="-120"/>
              </a:rPr>
              <a:t>Every reply a chatbot gives passes through the same pipeline, whether it's a quick question or a complex request.</a:t>
            </a:r>
            <a:endParaRPr lang="en-US" sz="1400" dirty="0"/>
          </a:p>
        </p:txBody>
      </p:sp>
      <p:sp>
        <p:nvSpPr>
          <p:cNvPr id="5" name="Shape 3"/>
          <p:cNvSpPr/>
          <p:nvPr/>
        </p:nvSpPr>
        <p:spPr>
          <a:xfrm>
            <a:off x="548640" y="2331720"/>
            <a:ext cx="2514600" cy="2880360"/>
          </a:xfrm>
          <a:prstGeom prst="roundRect">
            <a:avLst>
              <a:gd name="adj" fmla="val 3636"/>
            </a:avLst>
          </a:prstGeom>
          <a:solidFill>
            <a:srgbClr val="FFFFFF"/>
          </a:solidFill>
          <a:ln/>
          <a:effectLst>
            <a:outerShdw blurRad="101600" dist="38100" dir="5400000" algn="bl" rotWithShape="0">
              <a:srgbClr val="342F80">
                <a:alpha val="18000"/>
              </a:srgbClr>
            </a:outerShdw>
          </a:effectLst>
        </p:spPr>
      </p:sp>
      <p:sp>
        <p:nvSpPr>
          <p:cNvPr id="6" name="Shape 4"/>
          <p:cNvSpPr/>
          <p:nvPr/>
        </p:nvSpPr>
        <p:spPr>
          <a:xfrm>
            <a:off x="1513332" y="2651760"/>
            <a:ext cx="585216" cy="585216"/>
          </a:xfrm>
          <a:prstGeom prst="ellipse">
            <a:avLst/>
          </a:prstGeom>
          <a:solidFill>
            <a:srgbClr val="4C3FB4"/>
          </a:solidFill>
          <a:ln/>
        </p:spPr>
      </p:sp>
      <p:sp>
        <p:nvSpPr>
          <p:cNvPr id="7" name="Text 5"/>
          <p:cNvSpPr/>
          <p:nvPr/>
        </p:nvSpPr>
        <p:spPr>
          <a:xfrm>
            <a:off x="1513332" y="2651760"/>
            <a:ext cx="585216" cy="585216"/>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685800" y="3474720"/>
            <a:ext cx="2240280" cy="457200"/>
          </a:xfrm>
          <a:prstGeom prst="rect">
            <a:avLst/>
          </a:prstGeom>
          <a:noFill/>
          <a:ln/>
        </p:spPr>
        <p:txBody>
          <a:bodyPr wrap="square" rtlCol="0" anchor="ctr"/>
          <a:lstStyle/>
          <a:p>
            <a:pPr marL="0" indent="0" algn="ctr">
              <a:buNone/>
            </a:pPr>
            <a:r>
              <a:rPr lang="en-US" sz="1700" b="1" dirty="0">
                <a:solidFill>
                  <a:srgbClr val="1E1B4B"/>
                </a:solidFill>
                <a:latin typeface="Cambria" pitchFamily="34" charset="0"/>
                <a:ea typeface="Cambria" pitchFamily="34" charset="-122"/>
                <a:cs typeface="Cambria" pitchFamily="34" charset="-120"/>
              </a:rPr>
              <a:t>Tokenization</a:t>
            </a:r>
            <a:endParaRPr lang="en-US" sz="1700" dirty="0"/>
          </a:p>
        </p:txBody>
      </p:sp>
      <p:sp>
        <p:nvSpPr>
          <p:cNvPr id="9" name="Text 7"/>
          <p:cNvSpPr/>
          <p:nvPr/>
        </p:nvSpPr>
        <p:spPr>
          <a:xfrm>
            <a:off x="731520" y="3959352"/>
            <a:ext cx="2148840" cy="822960"/>
          </a:xfrm>
          <a:prstGeom prst="rect">
            <a:avLst/>
          </a:prstGeom>
          <a:noFill/>
          <a:ln/>
        </p:spPr>
        <p:txBody>
          <a:bodyPr wrap="square" rtlCol="0" anchor="ctr"/>
          <a:lstStyle/>
          <a:p>
            <a:pPr marL="0" indent="0" algn="ctr">
              <a:buNone/>
            </a:pPr>
            <a:r>
              <a:rPr lang="en-US" sz="1250" dirty="0">
                <a:solidFill>
                  <a:srgbClr val="6B6E85"/>
                </a:solidFill>
                <a:latin typeface="Calibri" pitchFamily="34" charset="0"/>
                <a:ea typeface="Calibri" pitchFamily="34" charset="-122"/>
                <a:cs typeface="Calibri" pitchFamily="34" charset="-120"/>
              </a:rPr>
              <a:t>Split text into small pieces</a:t>
            </a:r>
            <a:endParaRPr lang="en-US" sz="1250" dirty="0"/>
          </a:p>
        </p:txBody>
      </p:sp>
      <p:sp>
        <p:nvSpPr>
          <p:cNvPr id="10" name="Text 8"/>
          <p:cNvSpPr/>
          <p:nvPr/>
        </p:nvSpPr>
        <p:spPr>
          <a:xfrm>
            <a:off x="3072384" y="3515868"/>
            <a:ext cx="237744" cy="512064"/>
          </a:xfrm>
          <a:prstGeom prst="rect">
            <a:avLst/>
          </a:prstGeom>
          <a:noFill/>
          <a:ln/>
        </p:spPr>
        <p:txBody>
          <a:bodyPr wrap="square" rtlCol="0" anchor="ctr"/>
          <a:lstStyle/>
          <a:p>
            <a:pPr marL="0" indent="0" algn="ctr">
              <a:buNone/>
            </a:pPr>
            <a:r>
              <a:rPr lang="en-US" sz="2200" b="1" dirty="0">
                <a:solidFill>
                  <a:srgbClr val="4C3FB4"/>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319272" y="2331720"/>
            <a:ext cx="2514600" cy="2880360"/>
          </a:xfrm>
          <a:prstGeom prst="roundRect">
            <a:avLst>
              <a:gd name="adj" fmla="val 3636"/>
            </a:avLst>
          </a:prstGeom>
          <a:solidFill>
            <a:srgbClr val="FFFFFF"/>
          </a:solidFill>
          <a:ln/>
          <a:effectLst>
            <a:outerShdw blurRad="101600" dist="38100" dir="5400000" algn="bl" rotWithShape="0">
              <a:srgbClr val="342F80">
                <a:alpha val="18000"/>
              </a:srgbClr>
            </a:outerShdw>
          </a:effectLst>
        </p:spPr>
      </p:sp>
      <p:sp>
        <p:nvSpPr>
          <p:cNvPr id="12" name="Shape 10"/>
          <p:cNvSpPr/>
          <p:nvPr/>
        </p:nvSpPr>
        <p:spPr>
          <a:xfrm>
            <a:off x="4283964" y="2651760"/>
            <a:ext cx="585216" cy="585216"/>
          </a:xfrm>
          <a:prstGeom prst="ellipse">
            <a:avLst/>
          </a:prstGeom>
          <a:solidFill>
            <a:srgbClr val="4C3FB4"/>
          </a:solidFill>
          <a:ln/>
        </p:spPr>
      </p:sp>
      <p:sp>
        <p:nvSpPr>
          <p:cNvPr id="13" name="Text 11"/>
          <p:cNvSpPr/>
          <p:nvPr/>
        </p:nvSpPr>
        <p:spPr>
          <a:xfrm>
            <a:off x="4283964" y="2651760"/>
            <a:ext cx="585216" cy="585216"/>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3456432" y="3474720"/>
            <a:ext cx="2240280" cy="457200"/>
          </a:xfrm>
          <a:prstGeom prst="rect">
            <a:avLst/>
          </a:prstGeom>
          <a:noFill/>
          <a:ln/>
        </p:spPr>
        <p:txBody>
          <a:bodyPr wrap="square" rtlCol="0" anchor="ctr"/>
          <a:lstStyle/>
          <a:p>
            <a:pPr marL="0" indent="0" algn="ctr">
              <a:buNone/>
            </a:pPr>
            <a:r>
              <a:rPr lang="en-US" sz="1700" b="1" dirty="0">
                <a:solidFill>
                  <a:srgbClr val="1E1B4B"/>
                </a:solidFill>
                <a:latin typeface="Cambria" pitchFamily="34" charset="0"/>
                <a:ea typeface="Cambria" pitchFamily="34" charset="-122"/>
                <a:cs typeface="Cambria" pitchFamily="34" charset="-120"/>
              </a:rPr>
              <a:t>Embeddings</a:t>
            </a:r>
            <a:endParaRPr lang="en-US" sz="1700" dirty="0"/>
          </a:p>
        </p:txBody>
      </p:sp>
      <p:sp>
        <p:nvSpPr>
          <p:cNvPr id="15" name="Text 13"/>
          <p:cNvSpPr/>
          <p:nvPr/>
        </p:nvSpPr>
        <p:spPr>
          <a:xfrm>
            <a:off x="3502152" y="3959352"/>
            <a:ext cx="2148840" cy="822960"/>
          </a:xfrm>
          <a:prstGeom prst="rect">
            <a:avLst/>
          </a:prstGeom>
          <a:noFill/>
          <a:ln/>
        </p:spPr>
        <p:txBody>
          <a:bodyPr wrap="square" rtlCol="0" anchor="ctr"/>
          <a:lstStyle/>
          <a:p>
            <a:pPr marL="0" indent="0" algn="ctr">
              <a:buNone/>
            </a:pPr>
            <a:r>
              <a:rPr lang="en-US" sz="1250" dirty="0">
                <a:solidFill>
                  <a:srgbClr val="6B6E85"/>
                </a:solidFill>
                <a:latin typeface="Calibri" pitchFamily="34" charset="0"/>
                <a:ea typeface="Calibri" pitchFamily="34" charset="-122"/>
                <a:cs typeface="Calibri" pitchFamily="34" charset="-120"/>
              </a:rPr>
              <a:t>Turn pieces into numbers</a:t>
            </a:r>
            <a:endParaRPr lang="en-US" sz="1250" dirty="0"/>
          </a:p>
        </p:txBody>
      </p:sp>
      <p:sp>
        <p:nvSpPr>
          <p:cNvPr id="16" name="Text 14"/>
          <p:cNvSpPr/>
          <p:nvPr/>
        </p:nvSpPr>
        <p:spPr>
          <a:xfrm>
            <a:off x="5843016" y="3515868"/>
            <a:ext cx="237744" cy="512064"/>
          </a:xfrm>
          <a:prstGeom prst="rect">
            <a:avLst/>
          </a:prstGeom>
          <a:noFill/>
          <a:ln/>
        </p:spPr>
        <p:txBody>
          <a:bodyPr wrap="square" rtlCol="0" anchor="ctr"/>
          <a:lstStyle/>
          <a:p>
            <a:pPr marL="0" indent="0" algn="ctr">
              <a:buNone/>
            </a:pPr>
            <a:r>
              <a:rPr lang="en-US" sz="2200" b="1" dirty="0">
                <a:solidFill>
                  <a:srgbClr val="4C3FB4"/>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089904" y="2331720"/>
            <a:ext cx="2514600" cy="2880360"/>
          </a:xfrm>
          <a:prstGeom prst="roundRect">
            <a:avLst>
              <a:gd name="adj" fmla="val 3636"/>
            </a:avLst>
          </a:prstGeom>
          <a:solidFill>
            <a:srgbClr val="FFFFFF"/>
          </a:solidFill>
          <a:ln/>
          <a:effectLst>
            <a:outerShdw blurRad="101600" dist="38100" dir="5400000" algn="bl" rotWithShape="0">
              <a:srgbClr val="342F80">
                <a:alpha val="18000"/>
              </a:srgbClr>
            </a:outerShdw>
          </a:effectLst>
        </p:spPr>
      </p:sp>
      <p:sp>
        <p:nvSpPr>
          <p:cNvPr id="18" name="Shape 16"/>
          <p:cNvSpPr/>
          <p:nvPr/>
        </p:nvSpPr>
        <p:spPr>
          <a:xfrm>
            <a:off x="7054596" y="2651760"/>
            <a:ext cx="585216" cy="585216"/>
          </a:xfrm>
          <a:prstGeom prst="ellipse">
            <a:avLst/>
          </a:prstGeom>
          <a:solidFill>
            <a:srgbClr val="4C3FB4"/>
          </a:solidFill>
          <a:ln/>
        </p:spPr>
      </p:sp>
      <p:sp>
        <p:nvSpPr>
          <p:cNvPr id="19" name="Text 17"/>
          <p:cNvSpPr/>
          <p:nvPr/>
        </p:nvSpPr>
        <p:spPr>
          <a:xfrm>
            <a:off x="7054596" y="2651760"/>
            <a:ext cx="585216" cy="585216"/>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6227064" y="3474720"/>
            <a:ext cx="2240280" cy="457200"/>
          </a:xfrm>
          <a:prstGeom prst="rect">
            <a:avLst/>
          </a:prstGeom>
          <a:noFill/>
          <a:ln/>
        </p:spPr>
        <p:txBody>
          <a:bodyPr wrap="square" rtlCol="0" anchor="ctr"/>
          <a:lstStyle/>
          <a:p>
            <a:pPr marL="0" indent="0" algn="ctr">
              <a:buNone/>
            </a:pPr>
            <a:r>
              <a:rPr lang="en-US" sz="1700" b="1" dirty="0">
                <a:solidFill>
                  <a:srgbClr val="1E1B4B"/>
                </a:solidFill>
                <a:latin typeface="Cambria" pitchFamily="34" charset="0"/>
                <a:ea typeface="Cambria" pitchFamily="34" charset="-122"/>
                <a:cs typeface="Cambria" pitchFamily="34" charset="-120"/>
              </a:rPr>
              <a:t>Attention</a:t>
            </a:r>
            <a:endParaRPr lang="en-US" sz="1700" dirty="0"/>
          </a:p>
        </p:txBody>
      </p:sp>
      <p:sp>
        <p:nvSpPr>
          <p:cNvPr id="21" name="Text 19"/>
          <p:cNvSpPr/>
          <p:nvPr/>
        </p:nvSpPr>
        <p:spPr>
          <a:xfrm>
            <a:off x="6272784" y="3959352"/>
            <a:ext cx="2148840" cy="822960"/>
          </a:xfrm>
          <a:prstGeom prst="rect">
            <a:avLst/>
          </a:prstGeom>
          <a:noFill/>
          <a:ln/>
        </p:spPr>
        <p:txBody>
          <a:bodyPr wrap="square" rtlCol="0" anchor="ctr"/>
          <a:lstStyle/>
          <a:p>
            <a:pPr marL="0" indent="0" algn="ctr">
              <a:buNone/>
            </a:pPr>
            <a:r>
              <a:rPr lang="en-US" sz="1250" dirty="0">
                <a:solidFill>
                  <a:srgbClr val="6B6E85"/>
                </a:solidFill>
                <a:latin typeface="Calibri" pitchFamily="34" charset="0"/>
                <a:ea typeface="Calibri" pitchFamily="34" charset="-122"/>
                <a:cs typeface="Calibri" pitchFamily="34" charset="-120"/>
              </a:rPr>
              <a:t>Weigh how words relate</a:t>
            </a:r>
            <a:endParaRPr lang="en-US" sz="1250" dirty="0"/>
          </a:p>
        </p:txBody>
      </p:sp>
      <p:sp>
        <p:nvSpPr>
          <p:cNvPr id="22" name="Text 20"/>
          <p:cNvSpPr/>
          <p:nvPr/>
        </p:nvSpPr>
        <p:spPr>
          <a:xfrm>
            <a:off x="8613648" y="3515868"/>
            <a:ext cx="237744" cy="512064"/>
          </a:xfrm>
          <a:prstGeom prst="rect">
            <a:avLst/>
          </a:prstGeom>
          <a:noFill/>
          <a:ln/>
        </p:spPr>
        <p:txBody>
          <a:bodyPr wrap="square" rtlCol="0" anchor="ctr"/>
          <a:lstStyle/>
          <a:p>
            <a:pPr marL="0" indent="0" algn="ctr">
              <a:buNone/>
            </a:pPr>
            <a:r>
              <a:rPr lang="en-US" sz="2200" b="1" dirty="0">
                <a:solidFill>
                  <a:srgbClr val="4C3FB4"/>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8860536" y="2331720"/>
            <a:ext cx="2514600" cy="2880360"/>
          </a:xfrm>
          <a:prstGeom prst="roundRect">
            <a:avLst>
              <a:gd name="adj" fmla="val 3636"/>
            </a:avLst>
          </a:prstGeom>
          <a:solidFill>
            <a:srgbClr val="FFFFFF"/>
          </a:solidFill>
          <a:ln/>
          <a:effectLst>
            <a:outerShdw blurRad="101600" dist="38100" dir="5400000" algn="bl" rotWithShape="0">
              <a:srgbClr val="342F80">
                <a:alpha val="18000"/>
              </a:srgbClr>
            </a:outerShdw>
          </a:effectLst>
        </p:spPr>
      </p:sp>
      <p:sp>
        <p:nvSpPr>
          <p:cNvPr id="24" name="Shape 22"/>
          <p:cNvSpPr/>
          <p:nvPr/>
        </p:nvSpPr>
        <p:spPr>
          <a:xfrm>
            <a:off x="9825228" y="2651760"/>
            <a:ext cx="585216" cy="585216"/>
          </a:xfrm>
          <a:prstGeom prst="ellipse">
            <a:avLst/>
          </a:prstGeom>
          <a:solidFill>
            <a:srgbClr val="22D3EE"/>
          </a:solidFill>
          <a:ln/>
        </p:spPr>
      </p:sp>
      <p:sp>
        <p:nvSpPr>
          <p:cNvPr id="25" name="Text 23"/>
          <p:cNvSpPr/>
          <p:nvPr/>
        </p:nvSpPr>
        <p:spPr>
          <a:xfrm>
            <a:off x="9825228" y="2651760"/>
            <a:ext cx="585216" cy="585216"/>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p:nvPr/>
        </p:nvSpPr>
        <p:spPr>
          <a:xfrm>
            <a:off x="8997696" y="3474720"/>
            <a:ext cx="2240280" cy="457200"/>
          </a:xfrm>
          <a:prstGeom prst="rect">
            <a:avLst/>
          </a:prstGeom>
          <a:noFill/>
          <a:ln/>
        </p:spPr>
        <p:txBody>
          <a:bodyPr wrap="square" rtlCol="0" anchor="ctr"/>
          <a:lstStyle/>
          <a:p>
            <a:pPr marL="0" indent="0" algn="ctr">
              <a:buNone/>
            </a:pPr>
            <a:r>
              <a:rPr lang="en-US" sz="1700" b="1" dirty="0">
                <a:solidFill>
                  <a:srgbClr val="1E1B4B"/>
                </a:solidFill>
                <a:latin typeface="Cambria" pitchFamily="34" charset="0"/>
                <a:ea typeface="Cambria" pitchFamily="34" charset="-122"/>
                <a:cs typeface="Cambria" pitchFamily="34" charset="-120"/>
              </a:rPr>
              <a:t>Generation</a:t>
            </a:r>
            <a:endParaRPr lang="en-US" sz="1700" dirty="0"/>
          </a:p>
        </p:txBody>
      </p:sp>
      <p:sp>
        <p:nvSpPr>
          <p:cNvPr id="27" name="Text 25"/>
          <p:cNvSpPr/>
          <p:nvPr/>
        </p:nvSpPr>
        <p:spPr>
          <a:xfrm>
            <a:off x="9043416" y="3959352"/>
            <a:ext cx="2148840" cy="822960"/>
          </a:xfrm>
          <a:prstGeom prst="rect">
            <a:avLst/>
          </a:prstGeom>
          <a:noFill/>
          <a:ln/>
        </p:spPr>
        <p:txBody>
          <a:bodyPr wrap="square" rtlCol="0" anchor="ctr"/>
          <a:lstStyle/>
          <a:p>
            <a:pPr marL="0" indent="0" algn="ctr">
              <a:buNone/>
            </a:pPr>
            <a:r>
              <a:rPr lang="en-US" sz="1250" dirty="0">
                <a:solidFill>
                  <a:srgbClr val="6B6E85"/>
                </a:solidFill>
                <a:latin typeface="Calibri" pitchFamily="34" charset="0"/>
                <a:ea typeface="Calibri" pitchFamily="34" charset="-122"/>
                <a:cs typeface="Calibri" pitchFamily="34" charset="-120"/>
              </a:rPr>
              <a:t>Predict the reply, word by word</a:t>
            </a:r>
            <a:endParaRPr lang="en-US" sz="1250" dirty="0"/>
          </a:p>
        </p:txBody>
      </p:sp>
      <p:sp>
        <p:nvSpPr>
          <p:cNvPr id="28" name="Text 26"/>
          <p:cNvSpPr/>
          <p:nvPr/>
        </p:nvSpPr>
        <p:spPr>
          <a:xfrm>
            <a:off x="548640" y="5532120"/>
            <a:ext cx="9144000" cy="365760"/>
          </a:xfrm>
          <a:prstGeom prst="rect">
            <a:avLst/>
          </a:prstGeom>
          <a:noFill/>
          <a:ln/>
        </p:spPr>
        <p:txBody>
          <a:bodyPr wrap="square" rtlCol="0" anchor="ctr"/>
          <a:lstStyle/>
          <a:p>
            <a:pPr marL="0" indent="0">
              <a:buNone/>
            </a:pPr>
            <a:r>
              <a:rPr lang="en-US" sz="1250" i="1" dirty="0">
                <a:solidFill>
                  <a:srgbClr val="6B6E85"/>
                </a:solidFill>
                <a:latin typeface="Calibri" pitchFamily="34" charset="0"/>
                <a:ea typeface="Calibri" pitchFamily="34" charset="-122"/>
                <a:cs typeface="Calibri" pitchFamily="34" charset="-120"/>
              </a:rPr>
              <a:t>We'll walk through each stage on the following slides.</a:t>
            </a:r>
            <a:endParaRPr lang="en-US" sz="1250" dirty="0"/>
          </a:p>
        </p:txBody>
      </p:sp>
      <p:sp>
        <p:nvSpPr>
          <p:cNvPr id="29" name="Shape 27"/>
          <p:cNvSpPr/>
          <p:nvPr/>
        </p:nvSpPr>
        <p:spPr>
          <a:xfrm flipV="1">
            <a:off x="10149840" y="457200"/>
            <a:ext cx="544068" cy="502920"/>
          </a:xfrm>
          <a:prstGeom prst="line">
            <a:avLst/>
          </a:prstGeom>
          <a:noFill/>
          <a:ln w="12700">
            <a:solidFill>
              <a:srgbClr val="4C3FB4">
                <a:alpha val="45000"/>
              </a:srgbClr>
            </a:solidFill>
            <a:prstDash val="solid"/>
          </a:ln>
        </p:spPr>
      </p:sp>
      <p:sp>
        <p:nvSpPr>
          <p:cNvPr id="30" name="Shape 28"/>
          <p:cNvSpPr/>
          <p:nvPr/>
        </p:nvSpPr>
        <p:spPr>
          <a:xfrm>
            <a:off x="10149840" y="960120"/>
            <a:ext cx="544068" cy="502920"/>
          </a:xfrm>
          <a:prstGeom prst="line">
            <a:avLst/>
          </a:prstGeom>
          <a:noFill/>
          <a:ln w="12700">
            <a:solidFill>
              <a:srgbClr val="4C3FB4">
                <a:alpha val="45000"/>
              </a:srgbClr>
            </a:solidFill>
            <a:prstDash val="solid"/>
          </a:ln>
        </p:spPr>
      </p:sp>
      <p:sp>
        <p:nvSpPr>
          <p:cNvPr id="31" name="Shape 29"/>
          <p:cNvSpPr/>
          <p:nvPr/>
        </p:nvSpPr>
        <p:spPr>
          <a:xfrm>
            <a:off x="10693908" y="457200"/>
            <a:ext cx="544068" cy="251460"/>
          </a:xfrm>
          <a:prstGeom prst="line">
            <a:avLst/>
          </a:prstGeom>
          <a:noFill/>
          <a:ln w="12700">
            <a:solidFill>
              <a:srgbClr val="4C3FB4">
                <a:alpha val="45000"/>
              </a:srgbClr>
            </a:solidFill>
            <a:prstDash val="solid"/>
          </a:ln>
        </p:spPr>
      </p:sp>
      <p:sp>
        <p:nvSpPr>
          <p:cNvPr id="32" name="Shape 30"/>
          <p:cNvSpPr/>
          <p:nvPr/>
        </p:nvSpPr>
        <p:spPr>
          <a:xfrm flipV="1">
            <a:off x="10693908" y="1211580"/>
            <a:ext cx="544068" cy="251460"/>
          </a:xfrm>
          <a:prstGeom prst="line">
            <a:avLst/>
          </a:prstGeom>
          <a:noFill/>
          <a:ln w="12700">
            <a:solidFill>
              <a:srgbClr val="4C3FB4">
                <a:alpha val="45000"/>
              </a:srgbClr>
            </a:solidFill>
            <a:prstDash val="solid"/>
          </a:ln>
        </p:spPr>
      </p:sp>
      <p:sp>
        <p:nvSpPr>
          <p:cNvPr id="33" name="Shape 31"/>
          <p:cNvSpPr/>
          <p:nvPr/>
        </p:nvSpPr>
        <p:spPr>
          <a:xfrm>
            <a:off x="10693908" y="457200"/>
            <a:ext cx="544068" cy="754380"/>
          </a:xfrm>
          <a:prstGeom prst="line">
            <a:avLst/>
          </a:prstGeom>
          <a:noFill/>
          <a:ln w="12700">
            <a:solidFill>
              <a:srgbClr val="4C3FB4">
                <a:alpha val="45000"/>
              </a:srgbClr>
            </a:solidFill>
            <a:prstDash val="solid"/>
          </a:ln>
        </p:spPr>
      </p:sp>
      <p:sp>
        <p:nvSpPr>
          <p:cNvPr id="34" name="Shape 32"/>
          <p:cNvSpPr/>
          <p:nvPr/>
        </p:nvSpPr>
        <p:spPr>
          <a:xfrm flipV="1">
            <a:off x="10693908" y="708660"/>
            <a:ext cx="544068" cy="754380"/>
          </a:xfrm>
          <a:prstGeom prst="line">
            <a:avLst/>
          </a:prstGeom>
          <a:noFill/>
          <a:ln w="12700">
            <a:solidFill>
              <a:srgbClr val="4C3FB4">
                <a:alpha val="45000"/>
              </a:srgbClr>
            </a:solidFill>
            <a:prstDash val="solid"/>
          </a:ln>
        </p:spPr>
      </p:sp>
      <p:sp>
        <p:nvSpPr>
          <p:cNvPr id="35" name="Shape 33"/>
          <p:cNvSpPr/>
          <p:nvPr/>
        </p:nvSpPr>
        <p:spPr>
          <a:xfrm>
            <a:off x="11237976" y="708660"/>
            <a:ext cx="466344" cy="251460"/>
          </a:xfrm>
          <a:prstGeom prst="line">
            <a:avLst/>
          </a:prstGeom>
          <a:noFill/>
          <a:ln w="12700">
            <a:solidFill>
              <a:srgbClr val="4C3FB4">
                <a:alpha val="45000"/>
              </a:srgbClr>
            </a:solidFill>
            <a:prstDash val="solid"/>
          </a:ln>
        </p:spPr>
      </p:sp>
      <p:sp>
        <p:nvSpPr>
          <p:cNvPr id="36" name="Shape 34"/>
          <p:cNvSpPr/>
          <p:nvPr/>
        </p:nvSpPr>
        <p:spPr>
          <a:xfrm flipV="1">
            <a:off x="11237976" y="960120"/>
            <a:ext cx="466344" cy="251460"/>
          </a:xfrm>
          <a:prstGeom prst="line">
            <a:avLst/>
          </a:prstGeom>
          <a:noFill/>
          <a:ln w="12700">
            <a:solidFill>
              <a:srgbClr val="4C3FB4">
                <a:alpha val="45000"/>
              </a:srgbClr>
            </a:solidFill>
            <a:prstDash val="solid"/>
          </a:ln>
        </p:spPr>
      </p:sp>
      <p:sp>
        <p:nvSpPr>
          <p:cNvPr id="37" name="Shape 35"/>
          <p:cNvSpPr/>
          <p:nvPr/>
        </p:nvSpPr>
        <p:spPr>
          <a:xfrm>
            <a:off x="10081260" y="891540"/>
            <a:ext cx="137160" cy="137160"/>
          </a:xfrm>
          <a:prstGeom prst="ellipse">
            <a:avLst/>
          </a:prstGeom>
          <a:solidFill>
            <a:srgbClr val="4C3FB4"/>
          </a:solidFill>
          <a:ln/>
        </p:spPr>
      </p:sp>
      <p:sp>
        <p:nvSpPr>
          <p:cNvPr id="38" name="Shape 36"/>
          <p:cNvSpPr/>
          <p:nvPr/>
        </p:nvSpPr>
        <p:spPr>
          <a:xfrm>
            <a:off x="10648188" y="411480"/>
            <a:ext cx="91440" cy="91440"/>
          </a:xfrm>
          <a:prstGeom prst="ellipse">
            <a:avLst/>
          </a:prstGeom>
          <a:solidFill>
            <a:srgbClr val="4C3FB4"/>
          </a:solidFill>
          <a:ln/>
        </p:spPr>
      </p:sp>
      <p:sp>
        <p:nvSpPr>
          <p:cNvPr id="39" name="Shape 37"/>
          <p:cNvSpPr/>
          <p:nvPr/>
        </p:nvSpPr>
        <p:spPr>
          <a:xfrm>
            <a:off x="10648188" y="1417320"/>
            <a:ext cx="91440" cy="91440"/>
          </a:xfrm>
          <a:prstGeom prst="ellipse">
            <a:avLst/>
          </a:prstGeom>
          <a:solidFill>
            <a:srgbClr val="4C3FB4"/>
          </a:solidFill>
          <a:ln/>
        </p:spPr>
      </p:sp>
      <p:sp>
        <p:nvSpPr>
          <p:cNvPr id="40" name="Shape 38"/>
          <p:cNvSpPr/>
          <p:nvPr/>
        </p:nvSpPr>
        <p:spPr>
          <a:xfrm>
            <a:off x="11192256" y="662940"/>
            <a:ext cx="91440" cy="91440"/>
          </a:xfrm>
          <a:prstGeom prst="ellipse">
            <a:avLst/>
          </a:prstGeom>
          <a:solidFill>
            <a:srgbClr val="4C3FB4"/>
          </a:solidFill>
          <a:ln/>
        </p:spPr>
      </p:sp>
      <p:sp>
        <p:nvSpPr>
          <p:cNvPr id="41" name="Shape 39"/>
          <p:cNvSpPr/>
          <p:nvPr/>
        </p:nvSpPr>
        <p:spPr>
          <a:xfrm>
            <a:off x="11192256" y="1165860"/>
            <a:ext cx="91440" cy="91440"/>
          </a:xfrm>
          <a:prstGeom prst="ellipse">
            <a:avLst/>
          </a:prstGeom>
          <a:solidFill>
            <a:srgbClr val="4C3FB4"/>
          </a:solidFill>
          <a:ln/>
        </p:spPr>
      </p:sp>
      <p:sp>
        <p:nvSpPr>
          <p:cNvPr id="42" name="Shape 40"/>
          <p:cNvSpPr/>
          <p:nvPr/>
        </p:nvSpPr>
        <p:spPr>
          <a:xfrm>
            <a:off x="11635740" y="891540"/>
            <a:ext cx="137160" cy="137160"/>
          </a:xfrm>
          <a:prstGeom prst="ellipse">
            <a:avLst/>
          </a:prstGeom>
          <a:solidFill>
            <a:srgbClr val="4C3FB4"/>
          </a:solidFill>
          <a:ln/>
        </p:spPr>
      </p:sp>
      <p:sp>
        <p:nvSpPr>
          <p:cNvPr id="43" name="Text 41"/>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6B6E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4C3FB4"/>
                </a:solidFill>
                <a:latin typeface="Calibri" pitchFamily="34" charset="0"/>
                <a:ea typeface="Calibri" pitchFamily="34" charset="-122"/>
                <a:cs typeface="Calibri" pitchFamily="34" charset="-120"/>
              </a:rPr>
              <a:t>STEP 1 OF 4</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800" b="1" dirty="0">
                <a:solidFill>
                  <a:srgbClr val="1E1B4B"/>
                </a:solidFill>
                <a:latin typeface="Cambria" pitchFamily="34" charset="0"/>
                <a:ea typeface="Cambria" pitchFamily="34" charset="-122"/>
                <a:cs typeface="Cambria" pitchFamily="34" charset="-120"/>
              </a:rPr>
              <a:t>Tokenization: breaking text into pieces</a:t>
            </a:r>
            <a:endParaRPr lang="en-US" sz="2800" dirty="0"/>
          </a:p>
        </p:txBody>
      </p:sp>
      <p:sp>
        <p:nvSpPr>
          <p:cNvPr id="4" name="Text 2"/>
          <p:cNvSpPr/>
          <p:nvPr/>
        </p:nvSpPr>
        <p:spPr>
          <a:xfrm>
            <a:off x="548640" y="1508760"/>
            <a:ext cx="10515600" cy="822960"/>
          </a:xfrm>
          <a:prstGeom prst="rect">
            <a:avLst/>
          </a:prstGeom>
          <a:noFill/>
          <a:ln/>
        </p:spPr>
        <p:txBody>
          <a:bodyPr wrap="square" rtlCol="0" anchor="ctr"/>
          <a:lstStyle/>
          <a:p>
            <a:pPr marL="0" indent="0">
              <a:lnSpc>
                <a:spcPct val="125000"/>
              </a:lnSpc>
              <a:buNone/>
            </a:pPr>
            <a:r>
              <a:rPr lang="en-US" sz="1600" dirty="0">
                <a:solidFill>
                  <a:srgbClr val="1E1B4B"/>
                </a:solidFill>
                <a:latin typeface="Calibri" pitchFamily="34" charset="0"/>
                <a:ea typeface="Calibri" pitchFamily="34" charset="-122"/>
                <a:cs typeface="Calibri" pitchFamily="34" charset="-120"/>
              </a:rPr>
              <a:t>A chatbot can't read a sentence the way we do. It first splits your text into small units called </a:t>
            </a:r>
            <a:r>
              <a:rPr lang="en-US" sz="1600" b="1" dirty="0">
                <a:solidFill>
                  <a:srgbClr val="4C3FB4"/>
                </a:solidFill>
                <a:latin typeface="Calibri" pitchFamily="34" charset="0"/>
                <a:ea typeface="Calibri" pitchFamily="34" charset="-122"/>
                <a:cs typeface="Calibri" pitchFamily="34" charset="-120"/>
              </a:rPr>
              <a:t>tokens</a:t>
            </a:r>
            <a:r>
              <a:rPr lang="en-US" sz="1600" dirty="0">
                <a:solidFill>
                  <a:srgbClr val="1E1B4B"/>
                </a:solidFill>
                <a:latin typeface="Calibri" pitchFamily="34" charset="0"/>
                <a:ea typeface="Calibri" pitchFamily="34" charset="-122"/>
                <a:cs typeface="Calibri" pitchFamily="34" charset="-120"/>
              </a:rPr>
              <a:t> — often whole words, but sometimes word-pieces or even single characters.</a:t>
            </a:r>
            <a:endParaRPr lang="en-US" sz="1600" dirty="0"/>
          </a:p>
        </p:txBody>
      </p:sp>
      <p:sp>
        <p:nvSpPr>
          <p:cNvPr id="5" name="Text 3"/>
          <p:cNvSpPr/>
          <p:nvPr/>
        </p:nvSpPr>
        <p:spPr>
          <a:xfrm>
            <a:off x="548640" y="2514600"/>
            <a:ext cx="3657600" cy="320040"/>
          </a:xfrm>
          <a:prstGeom prst="rect">
            <a:avLst/>
          </a:prstGeom>
          <a:noFill/>
          <a:ln/>
        </p:spPr>
        <p:txBody>
          <a:bodyPr wrap="square" rtlCol="0" anchor="ctr"/>
          <a:lstStyle/>
          <a:p>
            <a:pPr marL="0" indent="0">
              <a:buNone/>
            </a:pPr>
            <a:r>
              <a:rPr lang="en-US" sz="1100" b="1" kern="0" spc="200" dirty="0">
                <a:solidFill>
                  <a:srgbClr val="6B6E85"/>
                </a:solidFill>
                <a:latin typeface="Calibri" pitchFamily="34" charset="0"/>
                <a:ea typeface="Calibri" pitchFamily="34" charset="-122"/>
                <a:cs typeface="Calibri" pitchFamily="34" charset="-120"/>
              </a:rPr>
              <a:t>EXAMPLE</a:t>
            </a:r>
            <a:endParaRPr lang="en-US" sz="1100" dirty="0"/>
          </a:p>
        </p:txBody>
      </p:sp>
      <p:sp>
        <p:nvSpPr>
          <p:cNvPr id="6" name="Text 4"/>
          <p:cNvSpPr/>
          <p:nvPr/>
        </p:nvSpPr>
        <p:spPr>
          <a:xfrm>
            <a:off x="548640" y="2788920"/>
            <a:ext cx="5486400" cy="457200"/>
          </a:xfrm>
          <a:prstGeom prst="rect">
            <a:avLst/>
          </a:prstGeom>
          <a:noFill/>
          <a:ln/>
        </p:spPr>
        <p:txBody>
          <a:bodyPr wrap="square" rtlCol="0" anchor="ctr"/>
          <a:lstStyle/>
          <a:p>
            <a:pPr marL="0" indent="0">
              <a:buNone/>
            </a:pPr>
            <a:r>
              <a:rPr lang="en-US" sz="2000" i="1" dirty="0">
                <a:solidFill>
                  <a:srgbClr val="1E1B4B"/>
                </a:solidFill>
                <a:latin typeface="Cambria" pitchFamily="34" charset="0"/>
                <a:ea typeface="Cambria" pitchFamily="34" charset="-122"/>
                <a:cs typeface="Cambria" pitchFamily="34" charset="-120"/>
              </a:rPr>
              <a:t>"I love chatbots!"</a:t>
            </a:r>
            <a:endParaRPr lang="en-US" sz="2000" dirty="0"/>
          </a:p>
        </p:txBody>
      </p:sp>
      <p:sp>
        <p:nvSpPr>
          <p:cNvPr id="7" name="Shape 5"/>
          <p:cNvSpPr/>
          <p:nvPr/>
        </p:nvSpPr>
        <p:spPr>
          <a:xfrm>
            <a:off x="1234440" y="3291840"/>
            <a:ext cx="274320" cy="411480"/>
          </a:xfrm>
          <a:prstGeom prst="downArrow">
            <a:avLst/>
          </a:prstGeom>
          <a:solidFill>
            <a:srgbClr val="4C3FB4"/>
          </a:solidFill>
          <a:ln/>
        </p:spPr>
      </p:sp>
      <p:sp>
        <p:nvSpPr>
          <p:cNvPr id="8" name="Shape 6"/>
          <p:cNvSpPr/>
          <p:nvPr/>
        </p:nvSpPr>
        <p:spPr>
          <a:xfrm>
            <a:off x="548640" y="3886200"/>
            <a:ext cx="649224" cy="566928"/>
          </a:xfrm>
          <a:prstGeom prst="roundRect">
            <a:avLst>
              <a:gd name="adj" fmla="val 12903"/>
            </a:avLst>
          </a:prstGeom>
          <a:solidFill>
            <a:srgbClr val="1E1B4B"/>
          </a:solidFill>
          <a:ln/>
        </p:spPr>
      </p:sp>
      <p:sp>
        <p:nvSpPr>
          <p:cNvPr id="9" name="Text 7"/>
          <p:cNvSpPr/>
          <p:nvPr/>
        </p:nvSpPr>
        <p:spPr>
          <a:xfrm>
            <a:off x="548640" y="3886200"/>
            <a:ext cx="649224"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I</a:t>
            </a:r>
            <a:endParaRPr lang="en-US" sz="1500" dirty="0"/>
          </a:p>
        </p:txBody>
      </p:sp>
      <p:sp>
        <p:nvSpPr>
          <p:cNvPr id="10" name="Shape 8"/>
          <p:cNvSpPr/>
          <p:nvPr/>
        </p:nvSpPr>
        <p:spPr>
          <a:xfrm>
            <a:off x="1362456" y="3886200"/>
            <a:ext cx="1088136" cy="566928"/>
          </a:xfrm>
          <a:prstGeom prst="roundRect">
            <a:avLst>
              <a:gd name="adj" fmla="val 12903"/>
            </a:avLst>
          </a:prstGeom>
          <a:solidFill>
            <a:srgbClr val="1E1B4B"/>
          </a:solidFill>
          <a:ln/>
        </p:spPr>
      </p:sp>
      <p:sp>
        <p:nvSpPr>
          <p:cNvPr id="11" name="Text 9"/>
          <p:cNvSpPr/>
          <p:nvPr/>
        </p:nvSpPr>
        <p:spPr>
          <a:xfrm>
            <a:off x="1362456" y="3886200"/>
            <a:ext cx="1088136"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love</a:t>
            </a:r>
            <a:endParaRPr lang="en-US" sz="1500" dirty="0"/>
          </a:p>
        </p:txBody>
      </p:sp>
      <p:sp>
        <p:nvSpPr>
          <p:cNvPr id="12" name="Shape 10"/>
          <p:cNvSpPr/>
          <p:nvPr/>
        </p:nvSpPr>
        <p:spPr>
          <a:xfrm>
            <a:off x="2615184" y="3886200"/>
            <a:ext cx="1088136" cy="566928"/>
          </a:xfrm>
          <a:prstGeom prst="roundRect">
            <a:avLst>
              <a:gd name="adj" fmla="val 12903"/>
            </a:avLst>
          </a:prstGeom>
          <a:solidFill>
            <a:srgbClr val="1E1B4B"/>
          </a:solidFill>
          <a:ln/>
        </p:spPr>
      </p:sp>
      <p:sp>
        <p:nvSpPr>
          <p:cNvPr id="13" name="Text 11"/>
          <p:cNvSpPr/>
          <p:nvPr/>
        </p:nvSpPr>
        <p:spPr>
          <a:xfrm>
            <a:off x="2615184" y="3886200"/>
            <a:ext cx="1088136"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chat</a:t>
            </a:r>
            <a:endParaRPr lang="en-US" sz="1500" dirty="0"/>
          </a:p>
        </p:txBody>
      </p:sp>
      <p:sp>
        <p:nvSpPr>
          <p:cNvPr id="14" name="Shape 12"/>
          <p:cNvSpPr/>
          <p:nvPr/>
        </p:nvSpPr>
        <p:spPr>
          <a:xfrm>
            <a:off x="3867912" y="3886200"/>
            <a:ext cx="1088136" cy="566928"/>
          </a:xfrm>
          <a:prstGeom prst="roundRect">
            <a:avLst>
              <a:gd name="adj" fmla="val 12903"/>
            </a:avLst>
          </a:prstGeom>
          <a:solidFill>
            <a:srgbClr val="1E1B4B"/>
          </a:solidFill>
          <a:ln/>
        </p:spPr>
      </p:sp>
      <p:sp>
        <p:nvSpPr>
          <p:cNvPr id="15" name="Text 13"/>
          <p:cNvSpPr/>
          <p:nvPr/>
        </p:nvSpPr>
        <p:spPr>
          <a:xfrm>
            <a:off x="3867912" y="3886200"/>
            <a:ext cx="1088136"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bots</a:t>
            </a:r>
            <a:endParaRPr lang="en-US" sz="1500" dirty="0"/>
          </a:p>
        </p:txBody>
      </p:sp>
      <p:sp>
        <p:nvSpPr>
          <p:cNvPr id="16" name="Shape 14"/>
          <p:cNvSpPr/>
          <p:nvPr/>
        </p:nvSpPr>
        <p:spPr>
          <a:xfrm>
            <a:off x="5120640" y="3886200"/>
            <a:ext cx="649224" cy="566928"/>
          </a:xfrm>
          <a:prstGeom prst="roundRect">
            <a:avLst>
              <a:gd name="adj" fmla="val 12903"/>
            </a:avLst>
          </a:prstGeom>
          <a:solidFill>
            <a:srgbClr val="1E1B4B"/>
          </a:solidFill>
          <a:ln/>
        </p:spPr>
      </p:sp>
      <p:sp>
        <p:nvSpPr>
          <p:cNvPr id="17" name="Text 15"/>
          <p:cNvSpPr/>
          <p:nvPr/>
        </p:nvSpPr>
        <p:spPr>
          <a:xfrm>
            <a:off x="5120640" y="3886200"/>
            <a:ext cx="649224"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548640" y="4709160"/>
            <a:ext cx="6035040" cy="1097280"/>
          </a:xfrm>
          <a:prstGeom prst="rect">
            <a:avLst/>
          </a:prstGeom>
          <a:noFill/>
          <a:ln/>
        </p:spPr>
        <p:txBody>
          <a:bodyPr wrap="square" rtlCol="0" anchor="ctr"/>
          <a:lstStyle/>
          <a:p>
            <a:pPr marL="0" indent="0">
              <a:lnSpc>
                <a:spcPct val="130000"/>
              </a:lnSpc>
              <a:buNone/>
            </a:pPr>
            <a:r>
              <a:rPr lang="en-US" sz="1400" dirty="0">
                <a:solidFill>
                  <a:srgbClr val="6B6E85"/>
                </a:solidFill>
                <a:latin typeface="Calibri" pitchFamily="34" charset="0"/>
                <a:ea typeface="Calibri" pitchFamily="34" charset="-122"/>
                <a:cs typeface="Calibri" pitchFamily="34" charset="-120"/>
              </a:rPr>
              <a:t>Notice "chatbots" splits into two pieces — models keep a fixed vocabulary, so rarer words are built from smaller familiar chunks.</a:t>
            </a:r>
            <a:endParaRPr lang="en-US" sz="1400" dirty="0"/>
          </a:p>
        </p:txBody>
      </p:sp>
      <p:sp>
        <p:nvSpPr>
          <p:cNvPr id="19" name="Shape 17"/>
          <p:cNvSpPr/>
          <p:nvPr/>
        </p:nvSpPr>
        <p:spPr>
          <a:xfrm>
            <a:off x="7818120" y="2514600"/>
            <a:ext cx="3794760" cy="3383280"/>
          </a:xfrm>
          <a:prstGeom prst="roundRect">
            <a:avLst>
              <a:gd name="adj" fmla="val 2703"/>
            </a:avLst>
          </a:prstGeom>
          <a:solidFill>
            <a:srgbClr val="FFFFFF"/>
          </a:solidFill>
          <a:ln/>
          <a:effectLst>
            <a:outerShdw blurRad="101600" dist="38100" dir="5400000" algn="bl" rotWithShape="0">
              <a:srgbClr val="342F80">
                <a:alpha val="18000"/>
              </a:srgbClr>
            </a:outerShdw>
          </a:effectLst>
        </p:spPr>
      </p:sp>
      <p:sp>
        <p:nvSpPr>
          <p:cNvPr id="20" name="Text 18"/>
          <p:cNvSpPr/>
          <p:nvPr/>
        </p:nvSpPr>
        <p:spPr>
          <a:xfrm>
            <a:off x="8092440" y="2724912"/>
            <a:ext cx="3291840" cy="365760"/>
          </a:xfrm>
          <a:prstGeom prst="rect">
            <a:avLst/>
          </a:prstGeom>
          <a:noFill/>
          <a:ln/>
        </p:spPr>
        <p:txBody>
          <a:bodyPr wrap="square" rtlCol="0" anchor="ctr"/>
          <a:lstStyle/>
          <a:p>
            <a:pPr marL="0" indent="0">
              <a:buNone/>
            </a:pPr>
            <a:r>
              <a:rPr lang="en-US" sz="1500" b="1" dirty="0">
                <a:solidFill>
                  <a:srgbClr val="4C3FB4"/>
                </a:solidFill>
                <a:latin typeface="Cambria" pitchFamily="34" charset="0"/>
                <a:ea typeface="Cambria" pitchFamily="34" charset="-122"/>
                <a:cs typeface="Cambria" pitchFamily="34" charset="-120"/>
              </a:rPr>
              <a:t>Why it matters</a:t>
            </a:r>
            <a:endParaRPr lang="en-US" sz="1500" dirty="0"/>
          </a:p>
        </p:txBody>
      </p:sp>
      <p:sp>
        <p:nvSpPr>
          <p:cNvPr id="21" name="Text 19"/>
          <p:cNvSpPr/>
          <p:nvPr/>
        </p:nvSpPr>
        <p:spPr>
          <a:xfrm>
            <a:off x="8092440" y="3154680"/>
            <a:ext cx="3246120" cy="2606040"/>
          </a:xfrm>
          <a:prstGeom prst="rect">
            <a:avLst/>
          </a:prstGeom>
          <a:noFill/>
          <a:ln/>
        </p:spPr>
        <p:txBody>
          <a:bodyPr wrap="square" rtlCol="0" anchor="ctr"/>
          <a:lstStyle/>
          <a:p>
            <a:pPr marL="0" indent="0" algn="just">
              <a:lnSpc>
                <a:spcPct val="150000"/>
              </a:lnSpc>
              <a:buNone/>
            </a:pPr>
            <a:r>
              <a:rPr lang="en-US" sz="1600" dirty="0">
                <a:solidFill>
                  <a:srgbClr val="1E1B4B"/>
                </a:solidFill>
                <a:latin typeface="Calibri" pitchFamily="34" charset="0"/>
                <a:ea typeface="Calibri" pitchFamily="34" charset="-122"/>
                <a:cs typeface="Calibri" pitchFamily="34" charset="-120"/>
              </a:rPr>
              <a:t>•  Tokens are the model's basic unit of input
•  Each token maps to an ID number
•  Shorter token count = faster, cheaper replies
•  Same trick works across many languages</a:t>
            </a:r>
            <a:endParaRPr lang="en-US" sz="1600" dirty="0"/>
          </a:p>
        </p:txBody>
      </p:sp>
      <p:sp>
        <p:nvSpPr>
          <p:cNvPr id="22" name="Text 20"/>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6B6E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4C3FB4"/>
                </a:solidFill>
                <a:latin typeface="Calibri" pitchFamily="34" charset="0"/>
                <a:ea typeface="Calibri" pitchFamily="34" charset="-122"/>
                <a:cs typeface="Calibri" pitchFamily="34" charset="-120"/>
              </a:rPr>
              <a:t>STEP 2 OF 4</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800" b="1" dirty="0">
                <a:solidFill>
                  <a:srgbClr val="1E1B4B"/>
                </a:solidFill>
                <a:latin typeface="Cambria" pitchFamily="34" charset="0"/>
                <a:ea typeface="Cambria" pitchFamily="34" charset="-122"/>
                <a:cs typeface="Cambria" pitchFamily="34" charset="-120"/>
              </a:rPr>
              <a:t>Embeddings: turning words into numbers</a:t>
            </a:r>
            <a:endParaRPr lang="en-US" sz="2800" dirty="0"/>
          </a:p>
        </p:txBody>
      </p:sp>
      <p:sp>
        <p:nvSpPr>
          <p:cNvPr id="4" name="Text 2"/>
          <p:cNvSpPr/>
          <p:nvPr/>
        </p:nvSpPr>
        <p:spPr>
          <a:xfrm>
            <a:off x="490790" y="1463040"/>
            <a:ext cx="10515600" cy="822960"/>
          </a:xfrm>
          <a:prstGeom prst="rect">
            <a:avLst/>
          </a:prstGeom>
          <a:noFill/>
          <a:ln/>
        </p:spPr>
        <p:txBody>
          <a:bodyPr wrap="square" rtlCol="0" anchor="ctr"/>
          <a:lstStyle/>
          <a:p>
            <a:pPr marL="0" indent="0">
              <a:lnSpc>
                <a:spcPct val="125000"/>
              </a:lnSpc>
              <a:buNone/>
            </a:pPr>
            <a:r>
              <a:rPr lang="en-US" sz="1600" dirty="0">
                <a:solidFill>
                  <a:srgbClr val="1E1B4B"/>
                </a:solidFill>
                <a:latin typeface="Calibri" pitchFamily="34" charset="0"/>
                <a:ea typeface="Calibri" pitchFamily="34" charset="-122"/>
                <a:cs typeface="Calibri" pitchFamily="34" charset="-120"/>
              </a:rPr>
              <a:t>Each token is converted into a list of numbers called a </a:t>
            </a:r>
            <a:r>
              <a:rPr lang="en-US" sz="1600" b="1" dirty="0">
                <a:solidFill>
                  <a:srgbClr val="4C3FB4"/>
                </a:solidFill>
                <a:latin typeface="Calibri" pitchFamily="34" charset="0"/>
                <a:ea typeface="Calibri" pitchFamily="34" charset="-122"/>
                <a:cs typeface="Calibri" pitchFamily="34" charset="-120"/>
              </a:rPr>
              <a:t>vector</a:t>
            </a:r>
            <a:r>
              <a:rPr lang="en-US" sz="1600" dirty="0">
                <a:solidFill>
                  <a:srgbClr val="1E1B4B"/>
                </a:solidFill>
                <a:latin typeface="Calibri" pitchFamily="34" charset="0"/>
                <a:ea typeface="Calibri" pitchFamily="34" charset="-122"/>
                <a:cs typeface="Calibri" pitchFamily="34" charset="-120"/>
              </a:rPr>
              <a:t>. Words used in similar ways end up with similar vectors — placing related meanings close together in space.</a:t>
            </a:r>
            <a:endParaRPr lang="en-US" sz="1600" dirty="0"/>
          </a:p>
        </p:txBody>
      </p:sp>
      <p:sp>
        <p:nvSpPr>
          <p:cNvPr id="5" name="Shape 3"/>
          <p:cNvSpPr/>
          <p:nvPr/>
        </p:nvSpPr>
        <p:spPr>
          <a:xfrm>
            <a:off x="548640" y="2514600"/>
            <a:ext cx="1371600" cy="566928"/>
          </a:xfrm>
          <a:prstGeom prst="roundRect">
            <a:avLst>
              <a:gd name="adj" fmla="val 12903"/>
            </a:avLst>
          </a:prstGeom>
          <a:solidFill>
            <a:srgbClr val="1E1B4B"/>
          </a:solidFill>
          <a:ln/>
        </p:spPr>
      </p:sp>
      <p:sp>
        <p:nvSpPr>
          <p:cNvPr id="6" name="Text 4"/>
          <p:cNvSpPr/>
          <p:nvPr/>
        </p:nvSpPr>
        <p:spPr>
          <a:xfrm>
            <a:off x="548640" y="2514600"/>
            <a:ext cx="1371600" cy="566928"/>
          </a:xfrm>
          <a:prstGeom prst="rect">
            <a:avLst/>
          </a:prstGeom>
          <a:noFill/>
          <a:ln/>
        </p:spPr>
        <p:txBody>
          <a:bodyPr wrap="square" rtlCol="0" anchor="ctr"/>
          <a:lstStyle/>
          <a:p>
            <a:pPr marL="0" indent="0" algn="ctr">
              <a:buNone/>
            </a:pPr>
            <a:r>
              <a:rPr lang="en-US" sz="1500" b="1" dirty="0">
                <a:solidFill>
                  <a:srgbClr val="22D3EE"/>
                </a:solidFill>
                <a:latin typeface="Calibri" pitchFamily="34" charset="0"/>
                <a:ea typeface="Calibri" pitchFamily="34" charset="-122"/>
                <a:cs typeface="Calibri" pitchFamily="34" charset="-120"/>
              </a:rPr>
              <a:t>"dog"</a:t>
            </a:r>
            <a:endParaRPr lang="en-US" sz="1500" dirty="0"/>
          </a:p>
        </p:txBody>
      </p:sp>
      <p:sp>
        <p:nvSpPr>
          <p:cNvPr id="7" name="Text 5"/>
          <p:cNvSpPr/>
          <p:nvPr/>
        </p:nvSpPr>
        <p:spPr>
          <a:xfrm>
            <a:off x="2011680" y="2514600"/>
            <a:ext cx="457200" cy="566928"/>
          </a:xfrm>
          <a:prstGeom prst="rect">
            <a:avLst/>
          </a:prstGeom>
          <a:noFill/>
          <a:ln/>
        </p:spPr>
        <p:txBody>
          <a:bodyPr wrap="square" rtlCol="0" anchor="ctr"/>
          <a:lstStyle/>
          <a:p>
            <a:pPr marL="0" indent="0" algn="ctr">
              <a:buNone/>
            </a:pPr>
            <a:r>
              <a:rPr lang="en-US" sz="2000" dirty="0">
                <a:solidFill>
                  <a:srgbClr val="4C3FB4"/>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560320" y="2514600"/>
            <a:ext cx="3108960" cy="566928"/>
          </a:xfrm>
          <a:prstGeom prst="roundRect">
            <a:avLst>
              <a:gd name="adj" fmla="val 12903"/>
            </a:avLst>
          </a:prstGeom>
          <a:solidFill>
            <a:srgbClr val="FFFFFF"/>
          </a:solidFill>
          <a:ln w="12700">
            <a:solidFill>
              <a:srgbClr val="4C3FB4"/>
            </a:solidFill>
            <a:prstDash val="solid"/>
          </a:ln>
        </p:spPr>
      </p:sp>
      <p:sp>
        <p:nvSpPr>
          <p:cNvPr id="9" name="Text 7"/>
          <p:cNvSpPr/>
          <p:nvPr/>
        </p:nvSpPr>
        <p:spPr>
          <a:xfrm>
            <a:off x="2560320" y="2514600"/>
            <a:ext cx="3108960" cy="566928"/>
          </a:xfrm>
          <a:prstGeom prst="rect">
            <a:avLst/>
          </a:prstGeom>
          <a:noFill/>
          <a:ln/>
        </p:spPr>
        <p:txBody>
          <a:bodyPr wrap="square" rtlCol="0" anchor="ctr"/>
          <a:lstStyle/>
          <a:p>
            <a:pPr marL="0" indent="0" algn="ctr">
              <a:buNone/>
            </a:pPr>
            <a:r>
              <a:rPr lang="en-US" sz="1250" dirty="0">
                <a:solidFill>
                  <a:srgbClr val="1E1B4B"/>
                </a:solidFill>
                <a:latin typeface="Courier New" pitchFamily="34" charset="0"/>
                <a:ea typeface="Courier New" pitchFamily="34" charset="-122"/>
                <a:cs typeface="Courier New" pitchFamily="34" charset="-120"/>
              </a:rPr>
              <a:t>[ 0.21, -0.55, 0.87, ... ]</a:t>
            </a:r>
            <a:endParaRPr lang="en-US" sz="1250" dirty="0"/>
          </a:p>
        </p:txBody>
      </p:sp>
      <p:sp>
        <p:nvSpPr>
          <p:cNvPr id="10" name="Shape 8"/>
          <p:cNvSpPr/>
          <p:nvPr/>
        </p:nvSpPr>
        <p:spPr>
          <a:xfrm>
            <a:off x="548640" y="3429000"/>
            <a:ext cx="5120640" cy="2788920"/>
          </a:xfrm>
          <a:prstGeom prst="roundRect">
            <a:avLst>
              <a:gd name="adj" fmla="val 3279"/>
            </a:avLst>
          </a:prstGeom>
          <a:solidFill>
            <a:srgbClr val="FFFFFF"/>
          </a:solidFill>
          <a:ln/>
          <a:effectLst>
            <a:outerShdw blurRad="101600" dist="38100" dir="5400000" algn="bl" rotWithShape="0">
              <a:srgbClr val="342F80">
                <a:alpha val="18000"/>
              </a:srgbClr>
            </a:outerShdw>
          </a:effectLst>
        </p:spPr>
      </p:sp>
      <p:sp>
        <p:nvSpPr>
          <p:cNvPr id="11" name="Text 9"/>
          <p:cNvSpPr/>
          <p:nvPr/>
        </p:nvSpPr>
        <p:spPr>
          <a:xfrm>
            <a:off x="777240" y="3566160"/>
            <a:ext cx="4572000" cy="274320"/>
          </a:xfrm>
          <a:prstGeom prst="rect">
            <a:avLst/>
          </a:prstGeom>
          <a:noFill/>
          <a:ln/>
        </p:spPr>
        <p:txBody>
          <a:bodyPr wrap="square" rtlCol="0" anchor="ctr"/>
          <a:lstStyle/>
          <a:p>
            <a:pPr marL="0" indent="0">
              <a:buNone/>
            </a:pPr>
            <a:r>
              <a:rPr lang="en-US" sz="1050" b="1" kern="0" spc="150" dirty="0">
                <a:solidFill>
                  <a:srgbClr val="6B6E85"/>
                </a:solidFill>
                <a:latin typeface="Calibri" pitchFamily="34" charset="0"/>
                <a:ea typeface="Calibri" pitchFamily="34" charset="-122"/>
                <a:cs typeface="Calibri" pitchFamily="34" charset="-120"/>
              </a:rPr>
              <a:t>MEANING SPACE (SIMPLIFIED)</a:t>
            </a:r>
            <a:endParaRPr lang="en-US" sz="1050" dirty="0"/>
          </a:p>
        </p:txBody>
      </p:sp>
      <p:sp>
        <p:nvSpPr>
          <p:cNvPr id="12" name="Shape 10"/>
          <p:cNvSpPr/>
          <p:nvPr/>
        </p:nvSpPr>
        <p:spPr>
          <a:xfrm>
            <a:off x="1408176" y="4791456"/>
            <a:ext cx="109728" cy="109728"/>
          </a:xfrm>
          <a:prstGeom prst="ellipse">
            <a:avLst/>
          </a:prstGeom>
          <a:solidFill>
            <a:srgbClr val="4C3FB4"/>
          </a:solidFill>
          <a:ln/>
        </p:spPr>
      </p:sp>
      <p:sp>
        <p:nvSpPr>
          <p:cNvPr id="13" name="Text 11"/>
          <p:cNvSpPr/>
          <p:nvPr/>
        </p:nvSpPr>
        <p:spPr>
          <a:xfrm>
            <a:off x="1005840" y="4919472"/>
            <a:ext cx="1005840" cy="274320"/>
          </a:xfrm>
          <a:prstGeom prst="rect">
            <a:avLst/>
          </a:prstGeom>
          <a:noFill/>
          <a:ln/>
        </p:spPr>
        <p:txBody>
          <a:bodyPr wrap="square" rtlCol="0" anchor="ctr"/>
          <a:lstStyle/>
          <a:p>
            <a:pPr marL="0" indent="0" algn="ctr">
              <a:buNone/>
            </a:pPr>
            <a:r>
              <a:rPr lang="en-US" sz="1150" dirty="0">
                <a:solidFill>
                  <a:srgbClr val="1E1B4B"/>
                </a:solidFill>
                <a:latin typeface="Calibri" pitchFamily="34" charset="0"/>
                <a:ea typeface="Calibri" pitchFamily="34" charset="-122"/>
                <a:cs typeface="Calibri" pitchFamily="34" charset="-120"/>
              </a:rPr>
              <a:t>dog</a:t>
            </a:r>
            <a:endParaRPr lang="en-US" sz="1150" dirty="0"/>
          </a:p>
        </p:txBody>
      </p:sp>
      <p:sp>
        <p:nvSpPr>
          <p:cNvPr id="14" name="Shape 12"/>
          <p:cNvSpPr/>
          <p:nvPr/>
        </p:nvSpPr>
        <p:spPr>
          <a:xfrm>
            <a:off x="1911096" y="5202936"/>
            <a:ext cx="109728" cy="109728"/>
          </a:xfrm>
          <a:prstGeom prst="ellipse">
            <a:avLst/>
          </a:prstGeom>
          <a:solidFill>
            <a:srgbClr val="4C3FB4"/>
          </a:solidFill>
          <a:ln/>
        </p:spPr>
      </p:sp>
      <p:sp>
        <p:nvSpPr>
          <p:cNvPr id="15" name="Text 13"/>
          <p:cNvSpPr/>
          <p:nvPr/>
        </p:nvSpPr>
        <p:spPr>
          <a:xfrm>
            <a:off x="1508760" y="5330952"/>
            <a:ext cx="1005840" cy="274320"/>
          </a:xfrm>
          <a:prstGeom prst="rect">
            <a:avLst/>
          </a:prstGeom>
          <a:noFill/>
          <a:ln/>
        </p:spPr>
        <p:txBody>
          <a:bodyPr wrap="square" rtlCol="0" anchor="ctr"/>
          <a:lstStyle/>
          <a:p>
            <a:pPr marL="0" indent="0" algn="ctr">
              <a:buNone/>
            </a:pPr>
            <a:r>
              <a:rPr lang="en-US" sz="1150" dirty="0">
                <a:solidFill>
                  <a:srgbClr val="1E1B4B"/>
                </a:solidFill>
                <a:latin typeface="Calibri" pitchFamily="34" charset="0"/>
                <a:ea typeface="Calibri" pitchFamily="34" charset="-122"/>
                <a:cs typeface="Calibri" pitchFamily="34" charset="-120"/>
              </a:rPr>
              <a:t>puppy</a:t>
            </a:r>
            <a:endParaRPr lang="en-US" sz="1150" dirty="0"/>
          </a:p>
        </p:txBody>
      </p:sp>
      <p:sp>
        <p:nvSpPr>
          <p:cNvPr id="16" name="Shape 14"/>
          <p:cNvSpPr/>
          <p:nvPr/>
        </p:nvSpPr>
        <p:spPr>
          <a:xfrm>
            <a:off x="1682496" y="4151376"/>
            <a:ext cx="109728" cy="109728"/>
          </a:xfrm>
          <a:prstGeom prst="ellipse">
            <a:avLst/>
          </a:prstGeom>
          <a:solidFill>
            <a:srgbClr val="4C3FB4"/>
          </a:solidFill>
          <a:ln/>
        </p:spPr>
      </p:sp>
      <p:sp>
        <p:nvSpPr>
          <p:cNvPr id="17" name="Text 15"/>
          <p:cNvSpPr/>
          <p:nvPr/>
        </p:nvSpPr>
        <p:spPr>
          <a:xfrm>
            <a:off x="1280160" y="4279392"/>
            <a:ext cx="1005840" cy="274320"/>
          </a:xfrm>
          <a:prstGeom prst="rect">
            <a:avLst/>
          </a:prstGeom>
          <a:noFill/>
          <a:ln/>
        </p:spPr>
        <p:txBody>
          <a:bodyPr wrap="square" rtlCol="0" anchor="ctr"/>
          <a:lstStyle/>
          <a:p>
            <a:pPr marL="0" indent="0" algn="ctr">
              <a:buNone/>
            </a:pPr>
            <a:r>
              <a:rPr lang="en-US" sz="1150" dirty="0">
                <a:solidFill>
                  <a:srgbClr val="1E1B4B"/>
                </a:solidFill>
                <a:latin typeface="Calibri" pitchFamily="34" charset="0"/>
                <a:ea typeface="Calibri" pitchFamily="34" charset="-122"/>
                <a:cs typeface="Calibri" pitchFamily="34" charset="-120"/>
              </a:rPr>
              <a:t>cat</a:t>
            </a:r>
            <a:endParaRPr lang="en-US" sz="1150" dirty="0"/>
          </a:p>
        </p:txBody>
      </p:sp>
      <p:sp>
        <p:nvSpPr>
          <p:cNvPr id="18" name="Shape 16"/>
          <p:cNvSpPr/>
          <p:nvPr/>
        </p:nvSpPr>
        <p:spPr>
          <a:xfrm>
            <a:off x="4242816" y="4059936"/>
            <a:ext cx="109728" cy="109728"/>
          </a:xfrm>
          <a:prstGeom prst="ellipse">
            <a:avLst/>
          </a:prstGeom>
          <a:solidFill>
            <a:srgbClr val="22D3EE"/>
          </a:solidFill>
          <a:ln/>
        </p:spPr>
      </p:sp>
      <p:sp>
        <p:nvSpPr>
          <p:cNvPr id="19" name="Text 17"/>
          <p:cNvSpPr/>
          <p:nvPr/>
        </p:nvSpPr>
        <p:spPr>
          <a:xfrm>
            <a:off x="3840480" y="4187952"/>
            <a:ext cx="1005840" cy="274320"/>
          </a:xfrm>
          <a:prstGeom prst="rect">
            <a:avLst/>
          </a:prstGeom>
          <a:noFill/>
          <a:ln/>
        </p:spPr>
        <p:txBody>
          <a:bodyPr wrap="square" rtlCol="0" anchor="ctr"/>
          <a:lstStyle/>
          <a:p>
            <a:pPr marL="0" indent="0" algn="ctr">
              <a:buNone/>
            </a:pPr>
            <a:r>
              <a:rPr lang="en-US" sz="1150" dirty="0">
                <a:solidFill>
                  <a:srgbClr val="1E1B4B"/>
                </a:solidFill>
                <a:latin typeface="Calibri" pitchFamily="34" charset="0"/>
                <a:ea typeface="Calibri" pitchFamily="34" charset="-122"/>
                <a:cs typeface="Calibri" pitchFamily="34" charset="-120"/>
              </a:rPr>
              <a:t>car</a:t>
            </a:r>
            <a:endParaRPr lang="en-US" sz="1150" dirty="0"/>
          </a:p>
        </p:txBody>
      </p:sp>
      <p:sp>
        <p:nvSpPr>
          <p:cNvPr id="20" name="Shape 18"/>
          <p:cNvSpPr/>
          <p:nvPr/>
        </p:nvSpPr>
        <p:spPr>
          <a:xfrm>
            <a:off x="4700016" y="4517136"/>
            <a:ext cx="109728" cy="109728"/>
          </a:xfrm>
          <a:prstGeom prst="ellipse">
            <a:avLst/>
          </a:prstGeom>
          <a:solidFill>
            <a:srgbClr val="22D3EE"/>
          </a:solidFill>
          <a:ln/>
        </p:spPr>
      </p:sp>
      <p:sp>
        <p:nvSpPr>
          <p:cNvPr id="21" name="Text 19"/>
          <p:cNvSpPr/>
          <p:nvPr/>
        </p:nvSpPr>
        <p:spPr>
          <a:xfrm>
            <a:off x="4297680" y="4645152"/>
            <a:ext cx="1005840" cy="274320"/>
          </a:xfrm>
          <a:prstGeom prst="rect">
            <a:avLst/>
          </a:prstGeom>
          <a:noFill/>
          <a:ln/>
        </p:spPr>
        <p:txBody>
          <a:bodyPr wrap="square" rtlCol="0" anchor="ctr"/>
          <a:lstStyle/>
          <a:p>
            <a:pPr marL="0" indent="0" algn="ctr">
              <a:buNone/>
            </a:pPr>
            <a:r>
              <a:rPr lang="en-US" sz="1150" dirty="0">
                <a:solidFill>
                  <a:srgbClr val="1E1B4B"/>
                </a:solidFill>
                <a:latin typeface="Calibri" pitchFamily="34" charset="0"/>
                <a:ea typeface="Calibri" pitchFamily="34" charset="-122"/>
                <a:cs typeface="Calibri" pitchFamily="34" charset="-120"/>
              </a:rPr>
              <a:t>truck</a:t>
            </a:r>
            <a:endParaRPr lang="en-US" sz="1150" dirty="0"/>
          </a:p>
        </p:txBody>
      </p:sp>
      <p:sp>
        <p:nvSpPr>
          <p:cNvPr id="22" name="Text 20"/>
          <p:cNvSpPr/>
          <p:nvPr/>
        </p:nvSpPr>
        <p:spPr>
          <a:xfrm>
            <a:off x="777240" y="5806440"/>
            <a:ext cx="4572000" cy="320040"/>
          </a:xfrm>
          <a:prstGeom prst="rect">
            <a:avLst/>
          </a:prstGeom>
          <a:noFill/>
          <a:ln/>
        </p:spPr>
        <p:txBody>
          <a:bodyPr wrap="square" rtlCol="0" anchor="ctr"/>
          <a:lstStyle/>
          <a:p>
            <a:pPr marL="0" indent="0">
              <a:buNone/>
            </a:pPr>
            <a:r>
              <a:rPr lang="en-US" sz="1100" i="1" dirty="0">
                <a:solidFill>
                  <a:srgbClr val="6B6E85"/>
                </a:solidFill>
                <a:latin typeface="Calibri" pitchFamily="34" charset="0"/>
                <a:ea typeface="Calibri" pitchFamily="34" charset="-122"/>
                <a:cs typeface="Calibri" pitchFamily="34" charset="-120"/>
              </a:rPr>
              <a:t>Animals cluster together; vehicles cluster separately.</a:t>
            </a:r>
            <a:endParaRPr lang="en-US" sz="1100" dirty="0"/>
          </a:p>
        </p:txBody>
      </p:sp>
      <p:sp>
        <p:nvSpPr>
          <p:cNvPr id="23" name="Shape 21"/>
          <p:cNvSpPr/>
          <p:nvPr/>
        </p:nvSpPr>
        <p:spPr>
          <a:xfrm>
            <a:off x="5989320" y="3429000"/>
            <a:ext cx="5623560" cy="2788920"/>
          </a:xfrm>
          <a:prstGeom prst="roundRect">
            <a:avLst>
              <a:gd name="adj" fmla="val 3279"/>
            </a:avLst>
          </a:prstGeom>
          <a:solidFill>
            <a:srgbClr val="1E1B4B"/>
          </a:solidFill>
          <a:ln/>
        </p:spPr>
      </p:sp>
      <p:sp>
        <p:nvSpPr>
          <p:cNvPr id="24" name="Text 22"/>
          <p:cNvSpPr/>
          <p:nvPr/>
        </p:nvSpPr>
        <p:spPr>
          <a:xfrm>
            <a:off x="6263640" y="3639312"/>
            <a:ext cx="5029200" cy="365760"/>
          </a:xfrm>
          <a:prstGeom prst="rect">
            <a:avLst/>
          </a:prstGeom>
          <a:noFill/>
          <a:ln/>
        </p:spPr>
        <p:txBody>
          <a:bodyPr wrap="square" rtlCol="0" anchor="ctr"/>
          <a:lstStyle/>
          <a:p>
            <a:pPr marL="0" indent="0">
              <a:buNone/>
            </a:pPr>
            <a:r>
              <a:rPr lang="en-US" sz="1500" b="1" dirty="0">
                <a:solidFill>
                  <a:srgbClr val="22D3EE"/>
                </a:solidFill>
                <a:latin typeface="Cambria" pitchFamily="34" charset="0"/>
                <a:ea typeface="Cambria" pitchFamily="34" charset="-122"/>
                <a:cs typeface="Cambria" pitchFamily="34" charset="-120"/>
              </a:rPr>
              <a:t>Key idea</a:t>
            </a:r>
            <a:endParaRPr lang="en-US" sz="1500" dirty="0"/>
          </a:p>
        </p:txBody>
      </p:sp>
      <p:sp>
        <p:nvSpPr>
          <p:cNvPr id="25" name="Text 23"/>
          <p:cNvSpPr/>
          <p:nvPr/>
        </p:nvSpPr>
        <p:spPr>
          <a:xfrm>
            <a:off x="6263640" y="4069080"/>
            <a:ext cx="5120640" cy="2011680"/>
          </a:xfrm>
          <a:prstGeom prst="rect">
            <a:avLst/>
          </a:prstGeom>
          <a:noFill/>
          <a:ln/>
        </p:spPr>
        <p:txBody>
          <a:bodyPr wrap="square" rtlCol="0" anchor="ctr"/>
          <a:lstStyle/>
          <a:p>
            <a:pPr marL="0" indent="0" algn="just">
              <a:lnSpc>
                <a:spcPct val="135000"/>
              </a:lnSpc>
              <a:buNone/>
            </a:pPr>
            <a:r>
              <a:rPr lang="en-US" sz="1400" dirty="0">
                <a:solidFill>
                  <a:srgbClr val="FFFFFF"/>
                </a:solidFill>
                <a:latin typeface="Calibri" pitchFamily="34" charset="0"/>
                <a:ea typeface="Calibri" pitchFamily="34" charset="-122"/>
                <a:cs typeface="Calibri" pitchFamily="34" charset="-120"/>
              </a:rPr>
              <a:t>•  Vectors usually have hundreds of dimensions, not just two
•  "King − Man + Woman ≈ Queen" is the classic example of meaning encoded as direction
•  This numeric form is what lets the model do math on meaning</a:t>
            </a:r>
            <a:endParaRPr lang="en-US" sz="1400" dirty="0"/>
          </a:p>
        </p:txBody>
      </p:sp>
      <p:sp>
        <p:nvSpPr>
          <p:cNvPr id="26" name="Text 24"/>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6B6E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4C3FB4"/>
                </a:solidFill>
                <a:latin typeface="Calibri" pitchFamily="34" charset="0"/>
                <a:ea typeface="Calibri" pitchFamily="34" charset="-122"/>
                <a:cs typeface="Calibri" pitchFamily="34" charset="-120"/>
              </a:rPr>
              <a:t>STEP 3 OF 4</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800" b="1" dirty="0">
                <a:solidFill>
                  <a:srgbClr val="1E1B4B"/>
                </a:solidFill>
                <a:latin typeface="Cambria" pitchFamily="34" charset="0"/>
                <a:ea typeface="Cambria" pitchFamily="34" charset="-122"/>
                <a:cs typeface="Cambria" pitchFamily="34" charset="-120"/>
              </a:rPr>
              <a:t>Attention: understanding context</a:t>
            </a:r>
            <a:endParaRPr lang="en-US" sz="2800" dirty="0"/>
          </a:p>
        </p:txBody>
      </p:sp>
      <p:sp>
        <p:nvSpPr>
          <p:cNvPr id="4" name="Text 2"/>
          <p:cNvSpPr/>
          <p:nvPr/>
        </p:nvSpPr>
        <p:spPr>
          <a:xfrm>
            <a:off x="548640" y="1508760"/>
            <a:ext cx="10515600" cy="822960"/>
          </a:xfrm>
          <a:prstGeom prst="rect">
            <a:avLst/>
          </a:prstGeom>
          <a:noFill/>
          <a:ln/>
        </p:spPr>
        <p:txBody>
          <a:bodyPr wrap="square" rtlCol="0" anchor="ctr"/>
          <a:lstStyle/>
          <a:p>
            <a:pPr marL="0" indent="0">
              <a:lnSpc>
                <a:spcPct val="125000"/>
              </a:lnSpc>
              <a:buNone/>
            </a:pPr>
            <a:r>
              <a:rPr lang="en-US" sz="1600" dirty="0">
                <a:solidFill>
                  <a:srgbClr val="1E1B4B"/>
                </a:solidFill>
                <a:latin typeface="Calibri" pitchFamily="34" charset="0"/>
                <a:ea typeface="Calibri" pitchFamily="34" charset="-122"/>
                <a:cs typeface="Calibri" pitchFamily="34" charset="-120"/>
              </a:rPr>
              <a:t>The </a:t>
            </a:r>
            <a:r>
              <a:rPr lang="en-US" sz="1600" b="1" dirty="0">
                <a:solidFill>
                  <a:srgbClr val="4C3FB4"/>
                </a:solidFill>
                <a:latin typeface="Calibri" pitchFamily="34" charset="0"/>
                <a:ea typeface="Calibri" pitchFamily="34" charset="-122"/>
                <a:cs typeface="Calibri" pitchFamily="34" charset="-120"/>
              </a:rPr>
              <a:t>Transformer</a:t>
            </a:r>
            <a:r>
              <a:rPr lang="en-US" sz="1600" dirty="0">
                <a:solidFill>
                  <a:srgbClr val="1E1B4B"/>
                </a:solidFill>
                <a:latin typeface="Calibri" pitchFamily="34" charset="0"/>
                <a:ea typeface="Calibri" pitchFamily="34" charset="-122"/>
                <a:cs typeface="Calibri" pitchFamily="34" charset="-120"/>
              </a:rPr>
              <a:t> architecture lets every word look at every other word and ask: </a:t>
            </a:r>
            <a:r>
              <a:rPr lang="en-US" sz="1600" i="1" dirty="0">
                <a:solidFill>
                  <a:srgbClr val="1E1B4B"/>
                </a:solidFill>
                <a:latin typeface="Calibri" pitchFamily="34" charset="0"/>
                <a:ea typeface="Calibri" pitchFamily="34" charset="-122"/>
                <a:cs typeface="Calibri" pitchFamily="34" charset="-120"/>
              </a:rPr>
              <a:t>"how relevant are you to me?"</a:t>
            </a:r>
            <a:r>
              <a:rPr lang="en-US" sz="1600" dirty="0">
                <a:solidFill>
                  <a:srgbClr val="1E1B4B"/>
                </a:solidFill>
                <a:latin typeface="Calibri" pitchFamily="34" charset="0"/>
                <a:ea typeface="Calibri" pitchFamily="34" charset="-122"/>
                <a:cs typeface="Calibri" pitchFamily="34" charset="-120"/>
              </a:rPr>
              <a:t> This mechanism is called </a:t>
            </a:r>
            <a:r>
              <a:rPr lang="en-US" sz="1600" b="1" dirty="0">
                <a:solidFill>
                  <a:srgbClr val="4C3FB4"/>
                </a:solidFill>
                <a:latin typeface="Calibri" pitchFamily="34" charset="0"/>
                <a:ea typeface="Calibri" pitchFamily="34" charset="-122"/>
                <a:cs typeface="Calibri" pitchFamily="34" charset="-120"/>
              </a:rPr>
              <a:t>self-attention</a:t>
            </a:r>
            <a:r>
              <a:rPr lang="en-US" sz="1600" dirty="0">
                <a:solidFill>
                  <a:srgbClr val="1E1B4B"/>
                </a:solidFill>
                <a:latin typeface="Calibri" pitchFamily="34" charset="0"/>
                <a:ea typeface="Calibri" pitchFamily="34" charset="-122"/>
                <a:cs typeface="Calibri" pitchFamily="34" charset="-120"/>
              </a:rPr>
              <a:t>.</a:t>
            </a:r>
            <a:endParaRPr lang="en-US" sz="1600" dirty="0"/>
          </a:p>
        </p:txBody>
      </p:sp>
      <p:sp>
        <p:nvSpPr>
          <p:cNvPr id="5" name="Shape 3"/>
          <p:cNvSpPr/>
          <p:nvPr/>
        </p:nvSpPr>
        <p:spPr>
          <a:xfrm>
            <a:off x="548640" y="2514600"/>
            <a:ext cx="10881360" cy="2286000"/>
          </a:xfrm>
          <a:prstGeom prst="roundRect">
            <a:avLst>
              <a:gd name="adj" fmla="val 4000"/>
            </a:avLst>
          </a:prstGeom>
          <a:solidFill>
            <a:srgbClr val="FFFFFF"/>
          </a:solidFill>
          <a:ln/>
          <a:effectLst>
            <a:outerShdw blurRad="101600" dist="38100" dir="5400000" algn="bl" rotWithShape="0">
              <a:srgbClr val="342F80">
                <a:alpha val="18000"/>
              </a:srgbClr>
            </a:outerShdw>
          </a:effectLst>
        </p:spPr>
      </p:sp>
      <p:sp>
        <p:nvSpPr>
          <p:cNvPr id="6" name="Shape 4"/>
          <p:cNvSpPr/>
          <p:nvPr/>
        </p:nvSpPr>
        <p:spPr>
          <a:xfrm>
            <a:off x="2002536" y="3063240"/>
            <a:ext cx="5980176" cy="0"/>
          </a:xfrm>
          <a:prstGeom prst="line">
            <a:avLst/>
          </a:prstGeom>
          <a:noFill/>
          <a:ln w="25400">
            <a:solidFill>
              <a:srgbClr val="22D3EE"/>
            </a:solidFill>
            <a:prstDash val="solid"/>
          </a:ln>
        </p:spPr>
      </p:sp>
      <p:sp>
        <p:nvSpPr>
          <p:cNvPr id="7" name="Shape 5"/>
          <p:cNvSpPr/>
          <p:nvPr/>
        </p:nvSpPr>
        <p:spPr>
          <a:xfrm>
            <a:off x="5989320" y="3063240"/>
            <a:ext cx="1993392" cy="0"/>
          </a:xfrm>
          <a:prstGeom prst="line">
            <a:avLst/>
          </a:prstGeom>
          <a:noFill/>
          <a:ln w="25400">
            <a:solidFill>
              <a:srgbClr val="22D3EE"/>
            </a:solidFill>
            <a:prstDash val="solid"/>
          </a:ln>
        </p:spPr>
      </p:sp>
      <p:sp>
        <p:nvSpPr>
          <p:cNvPr id="8" name="Text 6"/>
          <p:cNvSpPr/>
          <p:nvPr/>
        </p:nvSpPr>
        <p:spPr>
          <a:xfrm>
            <a:off x="594360"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The</a:t>
            </a:r>
            <a:endParaRPr lang="en-US" sz="1300" dirty="0"/>
          </a:p>
        </p:txBody>
      </p:sp>
      <p:sp>
        <p:nvSpPr>
          <p:cNvPr id="9" name="Text 7"/>
          <p:cNvSpPr/>
          <p:nvPr/>
        </p:nvSpPr>
        <p:spPr>
          <a:xfrm>
            <a:off x="1591056" y="4160520"/>
            <a:ext cx="822960" cy="36576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trophy</a:t>
            </a:r>
            <a:endParaRPr lang="en-US" sz="1300" dirty="0"/>
          </a:p>
        </p:txBody>
      </p:sp>
      <p:sp>
        <p:nvSpPr>
          <p:cNvPr id="10" name="Text 8"/>
          <p:cNvSpPr/>
          <p:nvPr/>
        </p:nvSpPr>
        <p:spPr>
          <a:xfrm>
            <a:off x="2587752"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didn't</a:t>
            </a:r>
            <a:endParaRPr lang="en-US" sz="1300" dirty="0"/>
          </a:p>
        </p:txBody>
      </p:sp>
      <p:sp>
        <p:nvSpPr>
          <p:cNvPr id="11" name="Text 9"/>
          <p:cNvSpPr/>
          <p:nvPr/>
        </p:nvSpPr>
        <p:spPr>
          <a:xfrm>
            <a:off x="3584448"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fit</a:t>
            </a:r>
            <a:endParaRPr lang="en-US" sz="1300" dirty="0"/>
          </a:p>
        </p:txBody>
      </p:sp>
      <p:sp>
        <p:nvSpPr>
          <p:cNvPr id="12" name="Text 10"/>
          <p:cNvSpPr/>
          <p:nvPr/>
        </p:nvSpPr>
        <p:spPr>
          <a:xfrm>
            <a:off x="4581144"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the</a:t>
            </a:r>
            <a:endParaRPr lang="en-US" sz="1300" dirty="0"/>
          </a:p>
        </p:txBody>
      </p:sp>
      <p:sp>
        <p:nvSpPr>
          <p:cNvPr id="13" name="Text 11"/>
          <p:cNvSpPr/>
          <p:nvPr/>
        </p:nvSpPr>
        <p:spPr>
          <a:xfrm>
            <a:off x="5577840" y="4160520"/>
            <a:ext cx="822960" cy="36576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bag</a:t>
            </a:r>
            <a:endParaRPr lang="en-US" sz="1300" dirty="0"/>
          </a:p>
        </p:txBody>
      </p:sp>
      <p:sp>
        <p:nvSpPr>
          <p:cNvPr id="14" name="Text 12"/>
          <p:cNvSpPr/>
          <p:nvPr/>
        </p:nvSpPr>
        <p:spPr>
          <a:xfrm>
            <a:off x="6574536"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because</a:t>
            </a:r>
            <a:endParaRPr lang="en-US" sz="1300" dirty="0"/>
          </a:p>
        </p:txBody>
      </p:sp>
      <p:sp>
        <p:nvSpPr>
          <p:cNvPr id="15" name="Text 13"/>
          <p:cNvSpPr/>
          <p:nvPr/>
        </p:nvSpPr>
        <p:spPr>
          <a:xfrm>
            <a:off x="7571232" y="4160520"/>
            <a:ext cx="822960" cy="365760"/>
          </a:xfrm>
          <a:prstGeom prst="rect">
            <a:avLst/>
          </a:prstGeom>
          <a:solidFill>
            <a:srgbClr val="4C3FB4"/>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it</a:t>
            </a:r>
            <a:endParaRPr lang="en-US" sz="1300" dirty="0"/>
          </a:p>
        </p:txBody>
      </p:sp>
      <p:sp>
        <p:nvSpPr>
          <p:cNvPr id="16" name="Text 14"/>
          <p:cNvSpPr/>
          <p:nvPr/>
        </p:nvSpPr>
        <p:spPr>
          <a:xfrm>
            <a:off x="8567928"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was</a:t>
            </a:r>
            <a:endParaRPr lang="en-US" sz="1300" dirty="0"/>
          </a:p>
        </p:txBody>
      </p:sp>
      <p:sp>
        <p:nvSpPr>
          <p:cNvPr id="17" name="Text 15"/>
          <p:cNvSpPr/>
          <p:nvPr/>
        </p:nvSpPr>
        <p:spPr>
          <a:xfrm>
            <a:off x="9564624"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too</a:t>
            </a:r>
            <a:endParaRPr lang="en-US" sz="1300" dirty="0"/>
          </a:p>
        </p:txBody>
      </p:sp>
      <p:sp>
        <p:nvSpPr>
          <p:cNvPr id="18" name="Text 16"/>
          <p:cNvSpPr/>
          <p:nvPr/>
        </p:nvSpPr>
        <p:spPr>
          <a:xfrm>
            <a:off x="10561320" y="4160520"/>
            <a:ext cx="822960" cy="365760"/>
          </a:xfrm>
          <a:prstGeom prst="rect">
            <a:avLst/>
          </a:prstGeom>
          <a:noFill/>
          <a:ln/>
        </p:spPr>
        <p:txBody>
          <a:bodyPr wrap="square" rtlCol="0" anchor="ctr"/>
          <a:lstStyle/>
          <a:p>
            <a:pPr marL="0" indent="0" algn="ctr">
              <a:buNone/>
            </a:pPr>
            <a:r>
              <a:rPr lang="en-US" sz="1300" dirty="0">
                <a:solidFill>
                  <a:srgbClr val="6B6E85"/>
                </a:solidFill>
                <a:latin typeface="Calibri" pitchFamily="34" charset="0"/>
                <a:ea typeface="Calibri" pitchFamily="34" charset="-122"/>
                <a:cs typeface="Calibri" pitchFamily="34" charset="-120"/>
              </a:rPr>
              <a:t>big</a:t>
            </a:r>
            <a:endParaRPr lang="en-US" sz="1300" dirty="0"/>
          </a:p>
        </p:txBody>
      </p:sp>
      <p:sp>
        <p:nvSpPr>
          <p:cNvPr id="19" name="Text 17"/>
          <p:cNvSpPr/>
          <p:nvPr/>
        </p:nvSpPr>
        <p:spPr>
          <a:xfrm>
            <a:off x="914400" y="3794760"/>
            <a:ext cx="10149840" cy="365760"/>
          </a:xfrm>
          <a:prstGeom prst="rect">
            <a:avLst/>
          </a:prstGeom>
          <a:noFill/>
          <a:ln/>
        </p:spPr>
        <p:txBody>
          <a:bodyPr wrap="square" rtlCol="0" anchor="ctr"/>
          <a:lstStyle/>
          <a:p>
            <a:pPr marL="0" indent="0" algn="ctr">
              <a:buNone/>
            </a:pPr>
            <a:r>
              <a:rPr lang="en-US" sz="1600" i="1" dirty="0">
                <a:solidFill>
                  <a:srgbClr val="6B6E85"/>
                </a:solidFill>
                <a:latin typeface="Calibri" pitchFamily="34" charset="0"/>
                <a:ea typeface="Calibri" pitchFamily="34" charset="-122"/>
                <a:cs typeface="Calibri" pitchFamily="34" charset="-120"/>
              </a:rPr>
              <a:t>The model links "it" strongly back to "trophy" — not "bag" — by weighing context, not word order alone.</a:t>
            </a:r>
            <a:endParaRPr lang="en-US" sz="1600" dirty="0"/>
          </a:p>
        </p:txBody>
      </p:sp>
      <p:sp>
        <p:nvSpPr>
          <p:cNvPr id="20" name="Shape 18"/>
          <p:cNvSpPr/>
          <p:nvPr/>
        </p:nvSpPr>
        <p:spPr>
          <a:xfrm>
            <a:off x="548640" y="5074920"/>
            <a:ext cx="3429000" cy="1234440"/>
          </a:xfrm>
          <a:prstGeom prst="roundRect">
            <a:avLst>
              <a:gd name="adj" fmla="val 5926"/>
            </a:avLst>
          </a:prstGeom>
          <a:solidFill>
            <a:srgbClr val="1E1B4B"/>
          </a:solidFill>
          <a:ln/>
        </p:spPr>
      </p:sp>
      <p:sp>
        <p:nvSpPr>
          <p:cNvPr id="21" name="Text 19"/>
          <p:cNvSpPr/>
          <p:nvPr/>
        </p:nvSpPr>
        <p:spPr>
          <a:xfrm>
            <a:off x="731520" y="5184648"/>
            <a:ext cx="3063240" cy="320040"/>
          </a:xfrm>
          <a:prstGeom prst="rect">
            <a:avLst/>
          </a:prstGeom>
          <a:noFill/>
          <a:ln/>
        </p:spPr>
        <p:txBody>
          <a:bodyPr wrap="square" rtlCol="0" anchor="ctr"/>
          <a:lstStyle/>
          <a:p>
            <a:pPr marL="0" indent="0">
              <a:buNone/>
            </a:pPr>
            <a:r>
              <a:rPr lang="en-US" sz="1350" b="1" dirty="0">
                <a:solidFill>
                  <a:srgbClr val="22D3EE"/>
                </a:solidFill>
                <a:latin typeface="Cambria" pitchFamily="34" charset="0"/>
                <a:ea typeface="Cambria" pitchFamily="34" charset="-122"/>
                <a:cs typeface="Cambria" pitchFamily="34" charset="-120"/>
              </a:rPr>
              <a:t>Parallel, not sequential</a:t>
            </a:r>
            <a:endParaRPr lang="en-US" sz="1350" dirty="0"/>
          </a:p>
        </p:txBody>
      </p:sp>
      <p:sp>
        <p:nvSpPr>
          <p:cNvPr id="22" name="Text 20"/>
          <p:cNvSpPr/>
          <p:nvPr/>
        </p:nvSpPr>
        <p:spPr>
          <a:xfrm>
            <a:off x="731520" y="5532120"/>
            <a:ext cx="3063240" cy="713232"/>
          </a:xfrm>
          <a:prstGeom prst="rect">
            <a:avLst/>
          </a:prstGeom>
          <a:noFill/>
          <a:ln/>
        </p:spPr>
        <p:txBody>
          <a:bodyPr wrap="square" rtlCol="0" anchor="ctr"/>
          <a:lstStyle/>
          <a:p>
            <a:pPr marL="0" indent="0">
              <a:lnSpc>
                <a:spcPct val="120000"/>
              </a:lnSpc>
              <a:buNone/>
            </a:pPr>
            <a:r>
              <a:rPr lang="en-US" sz="1400" dirty="0">
                <a:solidFill>
                  <a:srgbClr val="C7C3F0"/>
                </a:solidFill>
                <a:latin typeface="Calibri" pitchFamily="34" charset="0"/>
                <a:ea typeface="Calibri" pitchFamily="34" charset="-122"/>
                <a:cs typeface="Calibri" pitchFamily="34" charset="-120"/>
              </a:rPr>
              <a:t>All words are processed together, not one after another.</a:t>
            </a:r>
            <a:endParaRPr lang="en-US" sz="1400" dirty="0"/>
          </a:p>
        </p:txBody>
      </p:sp>
      <p:sp>
        <p:nvSpPr>
          <p:cNvPr id="23" name="Shape 21"/>
          <p:cNvSpPr/>
          <p:nvPr/>
        </p:nvSpPr>
        <p:spPr>
          <a:xfrm>
            <a:off x="4251960" y="5074920"/>
            <a:ext cx="3429000" cy="1234440"/>
          </a:xfrm>
          <a:prstGeom prst="roundRect">
            <a:avLst>
              <a:gd name="adj" fmla="val 5926"/>
            </a:avLst>
          </a:prstGeom>
          <a:solidFill>
            <a:srgbClr val="1E1B4B"/>
          </a:solidFill>
          <a:ln/>
        </p:spPr>
      </p:sp>
      <p:sp>
        <p:nvSpPr>
          <p:cNvPr id="24" name="Text 22"/>
          <p:cNvSpPr/>
          <p:nvPr/>
        </p:nvSpPr>
        <p:spPr>
          <a:xfrm>
            <a:off x="4434840" y="5184648"/>
            <a:ext cx="3063240" cy="320040"/>
          </a:xfrm>
          <a:prstGeom prst="rect">
            <a:avLst/>
          </a:prstGeom>
          <a:noFill/>
          <a:ln/>
        </p:spPr>
        <p:txBody>
          <a:bodyPr wrap="square" rtlCol="0" anchor="ctr"/>
          <a:lstStyle/>
          <a:p>
            <a:pPr marL="0" indent="0">
              <a:buNone/>
            </a:pPr>
            <a:r>
              <a:rPr lang="en-US" sz="1350" b="1" dirty="0">
                <a:solidFill>
                  <a:srgbClr val="22D3EE"/>
                </a:solidFill>
                <a:latin typeface="Cambria" pitchFamily="34" charset="0"/>
                <a:ea typeface="Cambria" pitchFamily="34" charset="-122"/>
                <a:cs typeface="Cambria" pitchFamily="34" charset="-120"/>
              </a:rPr>
              <a:t>Long-range links</a:t>
            </a:r>
            <a:endParaRPr lang="en-US" sz="1350" dirty="0"/>
          </a:p>
        </p:txBody>
      </p:sp>
      <p:sp>
        <p:nvSpPr>
          <p:cNvPr id="25" name="Text 23"/>
          <p:cNvSpPr/>
          <p:nvPr/>
        </p:nvSpPr>
        <p:spPr>
          <a:xfrm>
            <a:off x="4434840" y="5532120"/>
            <a:ext cx="3063240" cy="713232"/>
          </a:xfrm>
          <a:prstGeom prst="rect">
            <a:avLst/>
          </a:prstGeom>
          <a:noFill/>
          <a:ln/>
        </p:spPr>
        <p:txBody>
          <a:bodyPr wrap="square" rtlCol="0" anchor="ctr"/>
          <a:lstStyle/>
          <a:p>
            <a:pPr marL="0" indent="0">
              <a:lnSpc>
                <a:spcPct val="120000"/>
              </a:lnSpc>
              <a:buNone/>
            </a:pPr>
            <a:r>
              <a:rPr lang="en-US" sz="1400" dirty="0">
                <a:solidFill>
                  <a:srgbClr val="C7C3F0"/>
                </a:solidFill>
                <a:latin typeface="Calibri" pitchFamily="34" charset="0"/>
                <a:ea typeface="Calibri" pitchFamily="34" charset="-122"/>
                <a:cs typeface="Calibri" pitchFamily="34" charset="-120"/>
              </a:rPr>
              <a:t>Related words can connect even far apart in a sentence.</a:t>
            </a:r>
            <a:endParaRPr lang="en-US" sz="1400" dirty="0"/>
          </a:p>
        </p:txBody>
      </p:sp>
      <p:sp>
        <p:nvSpPr>
          <p:cNvPr id="26" name="Shape 24"/>
          <p:cNvSpPr/>
          <p:nvPr/>
        </p:nvSpPr>
        <p:spPr>
          <a:xfrm>
            <a:off x="7955280" y="5074920"/>
            <a:ext cx="3429000" cy="1234440"/>
          </a:xfrm>
          <a:prstGeom prst="roundRect">
            <a:avLst>
              <a:gd name="adj" fmla="val 5926"/>
            </a:avLst>
          </a:prstGeom>
          <a:solidFill>
            <a:srgbClr val="1E1B4B"/>
          </a:solidFill>
          <a:ln/>
        </p:spPr>
      </p:sp>
      <p:sp>
        <p:nvSpPr>
          <p:cNvPr id="27" name="Text 25"/>
          <p:cNvSpPr/>
          <p:nvPr/>
        </p:nvSpPr>
        <p:spPr>
          <a:xfrm>
            <a:off x="8138160" y="5184648"/>
            <a:ext cx="3063240" cy="320040"/>
          </a:xfrm>
          <a:prstGeom prst="rect">
            <a:avLst/>
          </a:prstGeom>
          <a:noFill/>
          <a:ln/>
        </p:spPr>
        <p:txBody>
          <a:bodyPr wrap="square" rtlCol="0" anchor="ctr"/>
          <a:lstStyle/>
          <a:p>
            <a:pPr marL="0" indent="0">
              <a:buNone/>
            </a:pPr>
            <a:r>
              <a:rPr lang="en-US" sz="1350" b="1" dirty="0">
                <a:solidFill>
                  <a:srgbClr val="22D3EE"/>
                </a:solidFill>
                <a:latin typeface="Cambria" pitchFamily="34" charset="0"/>
                <a:ea typeface="Cambria" pitchFamily="34" charset="-122"/>
                <a:cs typeface="Cambria" pitchFamily="34" charset="-120"/>
              </a:rPr>
              <a:t>Multiple "heads"</a:t>
            </a:r>
            <a:endParaRPr lang="en-US" sz="1350" dirty="0"/>
          </a:p>
        </p:txBody>
      </p:sp>
      <p:sp>
        <p:nvSpPr>
          <p:cNvPr id="28" name="Text 26"/>
          <p:cNvSpPr/>
          <p:nvPr/>
        </p:nvSpPr>
        <p:spPr>
          <a:xfrm>
            <a:off x="8138160" y="5532120"/>
            <a:ext cx="3063240" cy="713232"/>
          </a:xfrm>
          <a:prstGeom prst="rect">
            <a:avLst/>
          </a:prstGeom>
          <a:noFill/>
          <a:ln/>
        </p:spPr>
        <p:txBody>
          <a:bodyPr wrap="square" rtlCol="0" anchor="ctr"/>
          <a:lstStyle/>
          <a:p>
            <a:pPr marL="0" indent="0">
              <a:lnSpc>
                <a:spcPct val="120000"/>
              </a:lnSpc>
              <a:buNone/>
            </a:pPr>
            <a:r>
              <a:rPr lang="en-US" sz="1200" dirty="0">
                <a:solidFill>
                  <a:srgbClr val="C7C3F0"/>
                </a:solidFill>
                <a:latin typeface="Calibri" pitchFamily="34" charset="0"/>
                <a:ea typeface="Calibri" pitchFamily="34" charset="-122"/>
                <a:cs typeface="Calibri" pitchFamily="34" charset="-120"/>
              </a:rPr>
              <a:t>Several attention passes catch different kinds of relationships.</a:t>
            </a:r>
            <a:endParaRPr lang="en-US" sz="1200" dirty="0"/>
          </a:p>
        </p:txBody>
      </p:sp>
      <p:sp>
        <p:nvSpPr>
          <p:cNvPr id="29" name="Text 27"/>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6B6E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4C3FB4"/>
                </a:solidFill>
                <a:latin typeface="Calibri" pitchFamily="34" charset="0"/>
                <a:ea typeface="Calibri" pitchFamily="34" charset="-122"/>
                <a:cs typeface="Calibri" pitchFamily="34" charset="-120"/>
              </a:rPr>
              <a:t>STEP 4 OF 4</a:t>
            </a:r>
            <a:endParaRPr lang="en-US" sz="1200" dirty="0"/>
          </a:p>
        </p:txBody>
      </p:sp>
      <p:sp>
        <p:nvSpPr>
          <p:cNvPr id="3" name="Text 1"/>
          <p:cNvSpPr/>
          <p:nvPr/>
        </p:nvSpPr>
        <p:spPr>
          <a:xfrm>
            <a:off x="548640" y="777240"/>
            <a:ext cx="10607040" cy="640080"/>
          </a:xfrm>
          <a:prstGeom prst="rect">
            <a:avLst/>
          </a:prstGeom>
          <a:noFill/>
          <a:ln/>
        </p:spPr>
        <p:txBody>
          <a:bodyPr wrap="square" rtlCol="0" anchor="ctr"/>
          <a:lstStyle/>
          <a:p>
            <a:pPr marL="0" indent="0">
              <a:buNone/>
            </a:pPr>
            <a:r>
              <a:rPr lang="en-US" sz="2700" b="1" dirty="0">
                <a:solidFill>
                  <a:srgbClr val="1E1B4B"/>
                </a:solidFill>
                <a:latin typeface="Cambria" pitchFamily="34" charset="0"/>
                <a:ea typeface="Cambria" pitchFamily="34" charset="-122"/>
                <a:cs typeface="Cambria" pitchFamily="34" charset="-120"/>
              </a:rPr>
              <a:t>Generation: predicting the reply, word by word</a:t>
            </a:r>
            <a:endParaRPr lang="en-US" sz="2700" dirty="0"/>
          </a:p>
        </p:txBody>
      </p:sp>
      <p:sp>
        <p:nvSpPr>
          <p:cNvPr id="4" name="Text 2"/>
          <p:cNvSpPr/>
          <p:nvPr/>
        </p:nvSpPr>
        <p:spPr>
          <a:xfrm>
            <a:off x="548640" y="1440180"/>
            <a:ext cx="10607040" cy="640080"/>
          </a:xfrm>
          <a:prstGeom prst="rect">
            <a:avLst/>
          </a:prstGeom>
          <a:noFill/>
          <a:ln/>
        </p:spPr>
        <p:txBody>
          <a:bodyPr wrap="square" rtlCol="0" anchor="ctr"/>
          <a:lstStyle/>
          <a:p>
            <a:pPr marL="0" indent="0">
              <a:lnSpc>
                <a:spcPct val="125000"/>
              </a:lnSpc>
              <a:buNone/>
            </a:pPr>
            <a:r>
              <a:rPr lang="en-US" dirty="0">
                <a:solidFill>
                  <a:srgbClr val="1E1B4B"/>
                </a:solidFill>
                <a:latin typeface="Calibri" pitchFamily="34" charset="0"/>
                <a:ea typeface="Calibri" pitchFamily="34" charset="-122"/>
                <a:cs typeface="Calibri" pitchFamily="34" charset="-120"/>
              </a:rPr>
              <a:t>Once it understands your message, the model doesn't look up an answer — it predicts the single most likely next token, adds it to the text, and repeats.</a:t>
            </a:r>
            <a:endParaRPr lang="en-US" dirty="0"/>
          </a:p>
        </p:txBody>
      </p:sp>
      <p:sp>
        <p:nvSpPr>
          <p:cNvPr id="5" name="Shape 3"/>
          <p:cNvSpPr/>
          <p:nvPr/>
        </p:nvSpPr>
        <p:spPr>
          <a:xfrm>
            <a:off x="548640" y="2377440"/>
            <a:ext cx="5029200" cy="3657600"/>
          </a:xfrm>
          <a:prstGeom prst="roundRect">
            <a:avLst>
              <a:gd name="adj" fmla="val 2500"/>
            </a:avLst>
          </a:prstGeom>
          <a:solidFill>
            <a:srgbClr val="FFFFFF"/>
          </a:solidFill>
          <a:ln/>
          <a:effectLst>
            <a:outerShdw blurRad="101600" dist="38100" dir="5400000" algn="bl" rotWithShape="0">
              <a:srgbClr val="342F80">
                <a:alpha val="18000"/>
              </a:srgbClr>
            </a:outerShdw>
          </a:effectLst>
        </p:spPr>
      </p:sp>
      <p:sp>
        <p:nvSpPr>
          <p:cNvPr id="6" name="Text 4"/>
          <p:cNvSpPr/>
          <p:nvPr/>
        </p:nvSpPr>
        <p:spPr>
          <a:xfrm>
            <a:off x="777240" y="2542032"/>
            <a:ext cx="4572000" cy="365760"/>
          </a:xfrm>
          <a:prstGeom prst="rect">
            <a:avLst/>
          </a:prstGeom>
          <a:noFill/>
          <a:ln/>
        </p:spPr>
        <p:txBody>
          <a:bodyPr wrap="square" rtlCol="0" anchor="ctr"/>
          <a:lstStyle/>
          <a:p>
            <a:pPr marL="0" indent="0">
              <a:buNone/>
            </a:pPr>
            <a:r>
              <a:rPr lang="en-US" sz="1300" i="1" dirty="0">
                <a:solidFill>
                  <a:srgbClr val="6B6E85"/>
                </a:solidFill>
                <a:latin typeface="Calibri" pitchFamily="34" charset="0"/>
                <a:ea typeface="Calibri" pitchFamily="34" charset="-122"/>
                <a:cs typeface="Calibri" pitchFamily="34" charset="-120"/>
              </a:rPr>
              <a:t>So far: "The weather today is"</a:t>
            </a:r>
            <a:endParaRPr lang="en-US" sz="1300" dirty="0"/>
          </a:p>
        </p:txBody>
      </p:sp>
      <p:sp>
        <p:nvSpPr>
          <p:cNvPr id="7" name="Text 5"/>
          <p:cNvSpPr/>
          <p:nvPr/>
        </p:nvSpPr>
        <p:spPr>
          <a:xfrm>
            <a:off x="777240" y="2926080"/>
            <a:ext cx="4572000" cy="320040"/>
          </a:xfrm>
          <a:prstGeom prst="rect">
            <a:avLst/>
          </a:prstGeom>
          <a:noFill/>
          <a:ln/>
        </p:spPr>
        <p:txBody>
          <a:bodyPr wrap="square" rtlCol="0" anchor="ctr"/>
          <a:lstStyle/>
          <a:p>
            <a:pPr marL="0" indent="0">
              <a:buNone/>
            </a:pPr>
            <a:r>
              <a:rPr lang="en-US" sz="1100" b="1" kern="0" spc="100" dirty="0">
                <a:solidFill>
                  <a:srgbClr val="6B6E85"/>
                </a:solidFill>
                <a:latin typeface="Calibri" pitchFamily="34" charset="0"/>
                <a:ea typeface="Calibri" pitchFamily="34" charset="-122"/>
                <a:cs typeface="Calibri" pitchFamily="34" charset="-120"/>
              </a:rPr>
              <a:t>Candidate next words</a:t>
            </a:r>
            <a:endParaRPr lang="en-US" sz="1100" dirty="0"/>
          </a:p>
        </p:txBody>
      </p:sp>
      <p:sp>
        <p:nvSpPr>
          <p:cNvPr id="8" name="Text 6"/>
          <p:cNvSpPr/>
          <p:nvPr/>
        </p:nvSpPr>
        <p:spPr>
          <a:xfrm>
            <a:off x="777240" y="3337560"/>
            <a:ext cx="914400" cy="365760"/>
          </a:xfrm>
          <a:prstGeom prst="rect">
            <a:avLst/>
          </a:prstGeom>
          <a:noFill/>
          <a:ln/>
        </p:spPr>
        <p:txBody>
          <a:bodyPr wrap="square" rtlCol="0" anchor="ctr"/>
          <a:lstStyle/>
          <a:p>
            <a:pPr marL="0" indent="0">
              <a:buNone/>
            </a:pPr>
            <a:r>
              <a:rPr lang="en-US" sz="1300" dirty="0">
                <a:solidFill>
                  <a:srgbClr val="1E1B4B"/>
                </a:solidFill>
                <a:latin typeface="Calibri" pitchFamily="34" charset="0"/>
                <a:ea typeface="Calibri" pitchFamily="34" charset="-122"/>
                <a:cs typeface="Calibri" pitchFamily="34" charset="-120"/>
              </a:rPr>
              <a:t>sunny</a:t>
            </a:r>
            <a:endParaRPr lang="en-US" sz="1300" dirty="0"/>
          </a:p>
        </p:txBody>
      </p:sp>
      <p:sp>
        <p:nvSpPr>
          <p:cNvPr id="9" name="Shape 7"/>
          <p:cNvSpPr/>
          <p:nvPr/>
        </p:nvSpPr>
        <p:spPr>
          <a:xfrm>
            <a:off x="1737360" y="3392424"/>
            <a:ext cx="3291840" cy="256032"/>
          </a:xfrm>
          <a:prstGeom prst="roundRect">
            <a:avLst>
              <a:gd name="adj" fmla="val 14286"/>
            </a:avLst>
          </a:prstGeom>
          <a:solidFill>
            <a:srgbClr val="EEEEF6"/>
          </a:solidFill>
          <a:ln/>
        </p:spPr>
      </p:sp>
      <p:sp>
        <p:nvSpPr>
          <p:cNvPr id="10" name="Shape 8"/>
          <p:cNvSpPr/>
          <p:nvPr/>
        </p:nvSpPr>
        <p:spPr>
          <a:xfrm>
            <a:off x="1737360" y="3392424"/>
            <a:ext cx="1382573" cy="256032"/>
          </a:xfrm>
          <a:prstGeom prst="roundRect">
            <a:avLst>
              <a:gd name="adj" fmla="val 14286"/>
            </a:avLst>
          </a:prstGeom>
          <a:solidFill>
            <a:srgbClr val="22D3EE"/>
          </a:solidFill>
          <a:ln/>
        </p:spPr>
      </p:sp>
      <p:sp>
        <p:nvSpPr>
          <p:cNvPr id="11" name="Text 9"/>
          <p:cNvSpPr/>
          <p:nvPr/>
        </p:nvSpPr>
        <p:spPr>
          <a:xfrm>
            <a:off x="5120640" y="3337560"/>
            <a:ext cx="548640" cy="365760"/>
          </a:xfrm>
          <a:prstGeom prst="rect">
            <a:avLst/>
          </a:prstGeom>
          <a:noFill/>
          <a:ln/>
        </p:spPr>
        <p:txBody>
          <a:bodyPr wrap="square"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42%</a:t>
            </a:r>
            <a:endParaRPr lang="en-US" sz="1200" dirty="0"/>
          </a:p>
        </p:txBody>
      </p:sp>
      <p:sp>
        <p:nvSpPr>
          <p:cNvPr id="12" name="Text 10"/>
          <p:cNvSpPr/>
          <p:nvPr/>
        </p:nvSpPr>
        <p:spPr>
          <a:xfrm>
            <a:off x="777240" y="3886200"/>
            <a:ext cx="914400" cy="365760"/>
          </a:xfrm>
          <a:prstGeom prst="rect">
            <a:avLst/>
          </a:prstGeom>
          <a:noFill/>
          <a:ln/>
        </p:spPr>
        <p:txBody>
          <a:bodyPr wrap="square" rtlCol="0" anchor="ctr"/>
          <a:lstStyle/>
          <a:p>
            <a:pPr marL="0" indent="0">
              <a:buNone/>
            </a:pPr>
            <a:r>
              <a:rPr lang="en-US" sz="1300" dirty="0">
                <a:solidFill>
                  <a:srgbClr val="1E1B4B"/>
                </a:solidFill>
                <a:latin typeface="Calibri" pitchFamily="34" charset="0"/>
                <a:ea typeface="Calibri" pitchFamily="34" charset="-122"/>
                <a:cs typeface="Calibri" pitchFamily="34" charset="-120"/>
              </a:rPr>
              <a:t>cloudy</a:t>
            </a:r>
            <a:endParaRPr lang="en-US" sz="1300" dirty="0"/>
          </a:p>
        </p:txBody>
      </p:sp>
      <p:sp>
        <p:nvSpPr>
          <p:cNvPr id="13" name="Shape 11"/>
          <p:cNvSpPr/>
          <p:nvPr/>
        </p:nvSpPr>
        <p:spPr>
          <a:xfrm>
            <a:off x="1737360" y="3941064"/>
            <a:ext cx="3291840" cy="256032"/>
          </a:xfrm>
          <a:prstGeom prst="roundRect">
            <a:avLst>
              <a:gd name="adj" fmla="val 14286"/>
            </a:avLst>
          </a:prstGeom>
          <a:solidFill>
            <a:srgbClr val="EEEEF6"/>
          </a:solidFill>
          <a:ln/>
        </p:spPr>
      </p:sp>
      <p:sp>
        <p:nvSpPr>
          <p:cNvPr id="14" name="Shape 12"/>
          <p:cNvSpPr/>
          <p:nvPr/>
        </p:nvSpPr>
        <p:spPr>
          <a:xfrm>
            <a:off x="1737360" y="3941064"/>
            <a:ext cx="888797" cy="256032"/>
          </a:xfrm>
          <a:prstGeom prst="roundRect">
            <a:avLst>
              <a:gd name="adj" fmla="val 14286"/>
            </a:avLst>
          </a:prstGeom>
          <a:solidFill>
            <a:srgbClr val="4C3FB4"/>
          </a:solidFill>
          <a:ln/>
        </p:spPr>
      </p:sp>
      <p:sp>
        <p:nvSpPr>
          <p:cNvPr id="15" name="Text 13"/>
          <p:cNvSpPr/>
          <p:nvPr/>
        </p:nvSpPr>
        <p:spPr>
          <a:xfrm>
            <a:off x="5120640" y="3886200"/>
            <a:ext cx="548640" cy="365760"/>
          </a:xfrm>
          <a:prstGeom prst="rect">
            <a:avLst/>
          </a:prstGeom>
          <a:noFill/>
          <a:ln/>
        </p:spPr>
        <p:txBody>
          <a:bodyPr wrap="square"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27%</a:t>
            </a:r>
            <a:endParaRPr lang="en-US" sz="1200" dirty="0"/>
          </a:p>
        </p:txBody>
      </p:sp>
      <p:sp>
        <p:nvSpPr>
          <p:cNvPr id="16" name="Text 14"/>
          <p:cNvSpPr/>
          <p:nvPr/>
        </p:nvSpPr>
        <p:spPr>
          <a:xfrm>
            <a:off x="777240" y="4434840"/>
            <a:ext cx="914400" cy="365760"/>
          </a:xfrm>
          <a:prstGeom prst="rect">
            <a:avLst/>
          </a:prstGeom>
          <a:noFill/>
          <a:ln/>
        </p:spPr>
        <p:txBody>
          <a:bodyPr wrap="square" rtlCol="0" anchor="ctr"/>
          <a:lstStyle/>
          <a:p>
            <a:pPr marL="0" indent="0">
              <a:buNone/>
            </a:pPr>
            <a:r>
              <a:rPr lang="en-US" sz="1300" dirty="0">
                <a:solidFill>
                  <a:srgbClr val="1E1B4B"/>
                </a:solidFill>
                <a:latin typeface="Calibri" pitchFamily="34" charset="0"/>
                <a:ea typeface="Calibri" pitchFamily="34" charset="-122"/>
                <a:cs typeface="Calibri" pitchFamily="34" charset="-120"/>
              </a:rPr>
              <a:t>cold</a:t>
            </a:r>
            <a:endParaRPr lang="en-US" sz="1300" dirty="0"/>
          </a:p>
        </p:txBody>
      </p:sp>
      <p:sp>
        <p:nvSpPr>
          <p:cNvPr id="17" name="Shape 15"/>
          <p:cNvSpPr/>
          <p:nvPr/>
        </p:nvSpPr>
        <p:spPr>
          <a:xfrm>
            <a:off x="1737360" y="4489704"/>
            <a:ext cx="3291840" cy="256032"/>
          </a:xfrm>
          <a:prstGeom prst="roundRect">
            <a:avLst>
              <a:gd name="adj" fmla="val 14286"/>
            </a:avLst>
          </a:prstGeom>
          <a:solidFill>
            <a:srgbClr val="EEEEF6"/>
          </a:solidFill>
          <a:ln/>
        </p:spPr>
      </p:sp>
      <p:sp>
        <p:nvSpPr>
          <p:cNvPr id="18" name="Shape 16"/>
          <p:cNvSpPr/>
          <p:nvPr/>
        </p:nvSpPr>
        <p:spPr>
          <a:xfrm>
            <a:off x="1737360" y="4489704"/>
            <a:ext cx="526694" cy="256032"/>
          </a:xfrm>
          <a:prstGeom prst="roundRect">
            <a:avLst>
              <a:gd name="adj" fmla="val 14286"/>
            </a:avLst>
          </a:prstGeom>
          <a:solidFill>
            <a:srgbClr val="4C3FB4"/>
          </a:solidFill>
          <a:ln/>
        </p:spPr>
      </p:sp>
      <p:sp>
        <p:nvSpPr>
          <p:cNvPr id="19" name="Text 17"/>
          <p:cNvSpPr/>
          <p:nvPr/>
        </p:nvSpPr>
        <p:spPr>
          <a:xfrm>
            <a:off x="5120640" y="4434840"/>
            <a:ext cx="548640" cy="365760"/>
          </a:xfrm>
          <a:prstGeom prst="rect">
            <a:avLst/>
          </a:prstGeom>
          <a:noFill/>
          <a:ln/>
        </p:spPr>
        <p:txBody>
          <a:bodyPr wrap="square"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16%</a:t>
            </a:r>
            <a:endParaRPr lang="en-US" sz="1200" dirty="0"/>
          </a:p>
        </p:txBody>
      </p:sp>
      <p:sp>
        <p:nvSpPr>
          <p:cNvPr id="20" name="Text 18"/>
          <p:cNvSpPr/>
          <p:nvPr/>
        </p:nvSpPr>
        <p:spPr>
          <a:xfrm>
            <a:off x="777240" y="4983480"/>
            <a:ext cx="914400" cy="365760"/>
          </a:xfrm>
          <a:prstGeom prst="rect">
            <a:avLst/>
          </a:prstGeom>
          <a:noFill/>
          <a:ln/>
        </p:spPr>
        <p:txBody>
          <a:bodyPr wrap="square" rtlCol="0" anchor="ctr"/>
          <a:lstStyle/>
          <a:p>
            <a:pPr marL="0" indent="0">
              <a:buNone/>
            </a:pPr>
            <a:r>
              <a:rPr lang="en-US" sz="1300" dirty="0">
                <a:solidFill>
                  <a:srgbClr val="1E1B4B"/>
                </a:solidFill>
                <a:latin typeface="Calibri" pitchFamily="34" charset="0"/>
                <a:ea typeface="Calibri" pitchFamily="34" charset="-122"/>
                <a:cs typeface="Calibri" pitchFamily="34" charset="-120"/>
              </a:rPr>
              <a:t>strange</a:t>
            </a:r>
            <a:endParaRPr lang="en-US" sz="1300" dirty="0"/>
          </a:p>
        </p:txBody>
      </p:sp>
      <p:sp>
        <p:nvSpPr>
          <p:cNvPr id="21" name="Shape 19"/>
          <p:cNvSpPr/>
          <p:nvPr/>
        </p:nvSpPr>
        <p:spPr>
          <a:xfrm>
            <a:off x="1737360" y="5038344"/>
            <a:ext cx="3291840" cy="256032"/>
          </a:xfrm>
          <a:prstGeom prst="roundRect">
            <a:avLst>
              <a:gd name="adj" fmla="val 14286"/>
            </a:avLst>
          </a:prstGeom>
          <a:solidFill>
            <a:srgbClr val="EEEEF6"/>
          </a:solidFill>
          <a:ln/>
        </p:spPr>
      </p:sp>
      <p:sp>
        <p:nvSpPr>
          <p:cNvPr id="22" name="Shape 20"/>
          <p:cNvSpPr/>
          <p:nvPr/>
        </p:nvSpPr>
        <p:spPr>
          <a:xfrm>
            <a:off x="1737360" y="5038344"/>
            <a:ext cx="164592" cy="256032"/>
          </a:xfrm>
          <a:prstGeom prst="roundRect">
            <a:avLst>
              <a:gd name="adj" fmla="val 22222"/>
            </a:avLst>
          </a:prstGeom>
          <a:solidFill>
            <a:srgbClr val="4C3FB4"/>
          </a:solidFill>
          <a:ln/>
        </p:spPr>
      </p:sp>
      <p:sp>
        <p:nvSpPr>
          <p:cNvPr id="23" name="Text 21"/>
          <p:cNvSpPr/>
          <p:nvPr/>
        </p:nvSpPr>
        <p:spPr>
          <a:xfrm>
            <a:off x="5120640" y="4983480"/>
            <a:ext cx="548640" cy="365760"/>
          </a:xfrm>
          <a:prstGeom prst="rect">
            <a:avLst/>
          </a:prstGeom>
          <a:noFill/>
          <a:ln/>
        </p:spPr>
        <p:txBody>
          <a:bodyPr wrap="square"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777240" y="5596128"/>
            <a:ext cx="4480560" cy="457200"/>
          </a:xfrm>
          <a:prstGeom prst="rect">
            <a:avLst/>
          </a:prstGeom>
          <a:noFill/>
          <a:ln/>
        </p:spPr>
        <p:txBody>
          <a:bodyPr wrap="square" rtlCol="0" anchor="ctr"/>
          <a:lstStyle/>
          <a:p>
            <a:pPr marL="0" indent="0">
              <a:buNone/>
            </a:pPr>
            <a:r>
              <a:rPr lang="en-US" sz="1150" i="1" dirty="0">
                <a:solidFill>
                  <a:srgbClr val="6B6E85"/>
                </a:solidFill>
                <a:latin typeface="Calibri" pitchFamily="34" charset="0"/>
                <a:ea typeface="Calibri" pitchFamily="34" charset="-122"/>
                <a:cs typeface="Calibri" pitchFamily="34" charset="-120"/>
              </a:rPr>
              <a:t>The model samples from these probabilities — usually favoring the most likely word.</a:t>
            </a:r>
            <a:endParaRPr lang="en-US" sz="1150" dirty="0"/>
          </a:p>
        </p:txBody>
      </p:sp>
      <p:sp>
        <p:nvSpPr>
          <p:cNvPr id="25" name="Shape 23"/>
          <p:cNvSpPr/>
          <p:nvPr/>
        </p:nvSpPr>
        <p:spPr>
          <a:xfrm>
            <a:off x="5897880" y="2377440"/>
            <a:ext cx="5715000" cy="3657600"/>
          </a:xfrm>
          <a:prstGeom prst="roundRect">
            <a:avLst>
              <a:gd name="adj" fmla="val 2500"/>
            </a:avLst>
          </a:prstGeom>
          <a:solidFill>
            <a:srgbClr val="1E1B4B"/>
          </a:solidFill>
          <a:ln/>
        </p:spPr>
      </p:sp>
      <p:sp>
        <p:nvSpPr>
          <p:cNvPr id="26" name="Text 24"/>
          <p:cNvSpPr/>
          <p:nvPr/>
        </p:nvSpPr>
        <p:spPr>
          <a:xfrm>
            <a:off x="6172200" y="2606040"/>
            <a:ext cx="5120640" cy="365760"/>
          </a:xfrm>
          <a:prstGeom prst="rect">
            <a:avLst/>
          </a:prstGeom>
          <a:noFill/>
          <a:ln/>
        </p:spPr>
        <p:txBody>
          <a:bodyPr wrap="square" rtlCol="0" anchor="ctr"/>
          <a:lstStyle/>
          <a:p>
            <a:pPr marL="0" indent="0">
              <a:buNone/>
            </a:pPr>
            <a:r>
              <a:rPr lang="en-US" sz="1600" b="1" dirty="0">
                <a:solidFill>
                  <a:srgbClr val="22D3EE"/>
                </a:solidFill>
                <a:latin typeface="Cambria" pitchFamily="34" charset="0"/>
                <a:ea typeface="Cambria" pitchFamily="34" charset="-122"/>
                <a:cs typeface="Cambria" pitchFamily="34" charset="-120"/>
              </a:rPr>
              <a:t>The repeat loop</a:t>
            </a:r>
            <a:endParaRPr lang="en-US" sz="1600" dirty="0"/>
          </a:p>
        </p:txBody>
      </p:sp>
      <p:sp>
        <p:nvSpPr>
          <p:cNvPr id="27" name="Shape 25"/>
          <p:cNvSpPr/>
          <p:nvPr/>
        </p:nvSpPr>
        <p:spPr>
          <a:xfrm>
            <a:off x="6172200" y="3154680"/>
            <a:ext cx="384048" cy="384048"/>
          </a:xfrm>
          <a:prstGeom prst="ellipse">
            <a:avLst/>
          </a:prstGeom>
          <a:solidFill>
            <a:srgbClr val="22D3EE"/>
          </a:solidFill>
          <a:ln/>
        </p:spPr>
      </p:sp>
      <p:sp>
        <p:nvSpPr>
          <p:cNvPr id="28" name="Text 26"/>
          <p:cNvSpPr/>
          <p:nvPr/>
        </p:nvSpPr>
        <p:spPr>
          <a:xfrm>
            <a:off x="6172200" y="3154680"/>
            <a:ext cx="384048" cy="384048"/>
          </a:xfrm>
          <a:prstGeom prst="rect">
            <a:avLst/>
          </a:prstGeom>
          <a:noFill/>
          <a:ln/>
        </p:spPr>
        <p:txBody>
          <a:bodyPr wrap="square" rtlCol="0" anchor="ctr"/>
          <a:lstStyle/>
          <a:p>
            <a:pPr marL="0" indent="0" algn="ctr">
              <a:buNone/>
            </a:pPr>
            <a:r>
              <a:rPr lang="en-US" sz="1400" b="1" dirty="0">
                <a:solidFill>
                  <a:srgbClr val="1E1B4B"/>
                </a:solidFill>
                <a:latin typeface="Calibri" pitchFamily="34" charset="0"/>
                <a:ea typeface="Calibri" pitchFamily="34" charset="-122"/>
                <a:cs typeface="Calibri" pitchFamily="34" charset="-120"/>
              </a:rPr>
              <a:t>1</a:t>
            </a:r>
            <a:endParaRPr lang="en-US" sz="1400" dirty="0"/>
          </a:p>
        </p:txBody>
      </p:sp>
      <p:sp>
        <p:nvSpPr>
          <p:cNvPr id="29" name="Text 27"/>
          <p:cNvSpPr/>
          <p:nvPr/>
        </p:nvSpPr>
        <p:spPr>
          <a:xfrm>
            <a:off x="6720840" y="3136392"/>
            <a:ext cx="470916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Pick the next most likely token</a:t>
            </a:r>
            <a:endParaRPr lang="en-US" sz="1300" dirty="0"/>
          </a:p>
        </p:txBody>
      </p:sp>
      <p:sp>
        <p:nvSpPr>
          <p:cNvPr id="30" name="Shape 28"/>
          <p:cNvSpPr/>
          <p:nvPr/>
        </p:nvSpPr>
        <p:spPr>
          <a:xfrm>
            <a:off x="6172200" y="3813048"/>
            <a:ext cx="384048" cy="384048"/>
          </a:xfrm>
          <a:prstGeom prst="ellipse">
            <a:avLst/>
          </a:prstGeom>
          <a:solidFill>
            <a:srgbClr val="22D3EE"/>
          </a:solidFill>
          <a:ln/>
        </p:spPr>
      </p:sp>
      <p:sp>
        <p:nvSpPr>
          <p:cNvPr id="31" name="Text 29"/>
          <p:cNvSpPr/>
          <p:nvPr/>
        </p:nvSpPr>
        <p:spPr>
          <a:xfrm>
            <a:off x="6172200" y="3813048"/>
            <a:ext cx="384048" cy="384048"/>
          </a:xfrm>
          <a:prstGeom prst="rect">
            <a:avLst/>
          </a:prstGeom>
          <a:noFill/>
          <a:ln/>
        </p:spPr>
        <p:txBody>
          <a:bodyPr wrap="square" rtlCol="0" anchor="ctr"/>
          <a:lstStyle/>
          <a:p>
            <a:pPr marL="0" indent="0" algn="ctr">
              <a:buNone/>
            </a:pPr>
            <a:r>
              <a:rPr lang="en-US" sz="1400" b="1" dirty="0">
                <a:solidFill>
                  <a:srgbClr val="1E1B4B"/>
                </a:solidFill>
                <a:latin typeface="Calibri" pitchFamily="34" charset="0"/>
                <a:ea typeface="Calibri" pitchFamily="34" charset="-122"/>
                <a:cs typeface="Calibri" pitchFamily="34" charset="-120"/>
              </a:rPr>
              <a:t>2</a:t>
            </a:r>
            <a:endParaRPr lang="en-US" sz="1400" dirty="0"/>
          </a:p>
        </p:txBody>
      </p:sp>
      <p:sp>
        <p:nvSpPr>
          <p:cNvPr id="32" name="Text 30"/>
          <p:cNvSpPr/>
          <p:nvPr/>
        </p:nvSpPr>
        <p:spPr>
          <a:xfrm>
            <a:off x="6720840" y="3794760"/>
            <a:ext cx="470916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Add it to the growing reply</a:t>
            </a:r>
            <a:endParaRPr lang="en-US" sz="1300" dirty="0"/>
          </a:p>
        </p:txBody>
      </p:sp>
      <p:sp>
        <p:nvSpPr>
          <p:cNvPr id="33" name="Shape 31"/>
          <p:cNvSpPr/>
          <p:nvPr/>
        </p:nvSpPr>
        <p:spPr>
          <a:xfrm>
            <a:off x="6172200" y="4471416"/>
            <a:ext cx="384048" cy="384048"/>
          </a:xfrm>
          <a:prstGeom prst="ellipse">
            <a:avLst/>
          </a:prstGeom>
          <a:solidFill>
            <a:srgbClr val="22D3EE"/>
          </a:solidFill>
          <a:ln/>
        </p:spPr>
      </p:sp>
      <p:sp>
        <p:nvSpPr>
          <p:cNvPr id="34" name="Text 32"/>
          <p:cNvSpPr/>
          <p:nvPr/>
        </p:nvSpPr>
        <p:spPr>
          <a:xfrm>
            <a:off x="6172200" y="4471416"/>
            <a:ext cx="384048" cy="384048"/>
          </a:xfrm>
          <a:prstGeom prst="rect">
            <a:avLst/>
          </a:prstGeom>
          <a:noFill/>
          <a:ln/>
        </p:spPr>
        <p:txBody>
          <a:bodyPr wrap="square" rtlCol="0" anchor="ctr"/>
          <a:lstStyle/>
          <a:p>
            <a:pPr marL="0" indent="0" algn="ctr">
              <a:buNone/>
            </a:pPr>
            <a:r>
              <a:rPr lang="en-US" sz="1400" b="1" dirty="0">
                <a:solidFill>
                  <a:srgbClr val="1E1B4B"/>
                </a:solidFill>
                <a:latin typeface="Calibri" pitchFamily="34" charset="0"/>
                <a:ea typeface="Calibri" pitchFamily="34" charset="-122"/>
                <a:cs typeface="Calibri" pitchFamily="34" charset="-120"/>
              </a:rPr>
              <a:t>3</a:t>
            </a:r>
            <a:endParaRPr lang="en-US" sz="1400" dirty="0"/>
          </a:p>
        </p:txBody>
      </p:sp>
      <p:sp>
        <p:nvSpPr>
          <p:cNvPr id="35" name="Text 33"/>
          <p:cNvSpPr/>
          <p:nvPr/>
        </p:nvSpPr>
        <p:spPr>
          <a:xfrm>
            <a:off x="6720840" y="4453128"/>
            <a:ext cx="470916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Feed the new, longer text back in</a:t>
            </a:r>
            <a:endParaRPr lang="en-US" sz="1300" dirty="0"/>
          </a:p>
        </p:txBody>
      </p:sp>
      <p:sp>
        <p:nvSpPr>
          <p:cNvPr id="36" name="Shape 34"/>
          <p:cNvSpPr/>
          <p:nvPr/>
        </p:nvSpPr>
        <p:spPr>
          <a:xfrm>
            <a:off x="6172200" y="5129784"/>
            <a:ext cx="384048" cy="384048"/>
          </a:xfrm>
          <a:prstGeom prst="ellipse">
            <a:avLst/>
          </a:prstGeom>
          <a:solidFill>
            <a:srgbClr val="22D3EE"/>
          </a:solidFill>
          <a:ln/>
        </p:spPr>
      </p:sp>
      <p:sp>
        <p:nvSpPr>
          <p:cNvPr id="37" name="Text 35"/>
          <p:cNvSpPr/>
          <p:nvPr/>
        </p:nvSpPr>
        <p:spPr>
          <a:xfrm>
            <a:off x="6172200" y="5129784"/>
            <a:ext cx="384048" cy="384048"/>
          </a:xfrm>
          <a:prstGeom prst="rect">
            <a:avLst/>
          </a:prstGeom>
          <a:noFill/>
          <a:ln/>
        </p:spPr>
        <p:txBody>
          <a:bodyPr wrap="square" rtlCol="0" anchor="ctr"/>
          <a:lstStyle/>
          <a:p>
            <a:pPr marL="0" indent="0" algn="ctr">
              <a:buNone/>
            </a:pPr>
            <a:r>
              <a:rPr lang="en-US" sz="1400" b="1" dirty="0">
                <a:solidFill>
                  <a:srgbClr val="1E1B4B"/>
                </a:solidFill>
                <a:latin typeface="Calibri" pitchFamily="34" charset="0"/>
                <a:ea typeface="Calibri" pitchFamily="34" charset="-122"/>
                <a:cs typeface="Calibri" pitchFamily="34" charset="-120"/>
              </a:rPr>
              <a:t>4</a:t>
            </a:r>
            <a:endParaRPr lang="en-US" sz="1400" dirty="0"/>
          </a:p>
        </p:txBody>
      </p:sp>
      <p:sp>
        <p:nvSpPr>
          <p:cNvPr id="38" name="Text 36"/>
          <p:cNvSpPr/>
          <p:nvPr/>
        </p:nvSpPr>
        <p:spPr>
          <a:xfrm>
            <a:off x="6720840" y="5111496"/>
            <a:ext cx="470916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Repeat until a stop point is reached</a:t>
            </a:r>
            <a:endParaRPr lang="en-US" sz="1300" dirty="0"/>
          </a:p>
        </p:txBody>
      </p:sp>
      <p:sp>
        <p:nvSpPr>
          <p:cNvPr id="39" name="Text 37"/>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6B6E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flipV="1">
            <a:off x="9418320" y="4846320"/>
            <a:ext cx="736092" cy="640080"/>
          </a:xfrm>
          <a:prstGeom prst="line">
            <a:avLst/>
          </a:prstGeom>
          <a:noFill/>
          <a:ln w="12700">
            <a:solidFill>
              <a:srgbClr val="22D3EE">
                <a:alpha val="45000"/>
              </a:srgbClr>
            </a:solidFill>
            <a:prstDash val="solid"/>
          </a:ln>
        </p:spPr>
      </p:sp>
      <p:sp>
        <p:nvSpPr>
          <p:cNvPr id="3" name="Shape 1"/>
          <p:cNvSpPr/>
          <p:nvPr/>
        </p:nvSpPr>
        <p:spPr>
          <a:xfrm>
            <a:off x="9418320" y="5486400"/>
            <a:ext cx="736092" cy="640080"/>
          </a:xfrm>
          <a:prstGeom prst="line">
            <a:avLst/>
          </a:prstGeom>
          <a:noFill/>
          <a:ln w="12700">
            <a:solidFill>
              <a:srgbClr val="22D3EE">
                <a:alpha val="45000"/>
              </a:srgbClr>
            </a:solidFill>
            <a:prstDash val="solid"/>
          </a:ln>
        </p:spPr>
      </p:sp>
      <p:sp>
        <p:nvSpPr>
          <p:cNvPr id="4" name="Shape 2"/>
          <p:cNvSpPr/>
          <p:nvPr/>
        </p:nvSpPr>
        <p:spPr>
          <a:xfrm>
            <a:off x="10154412" y="4846320"/>
            <a:ext cx="736092" cy="320040"/>
          </a:xfrm>
          <a:prstGeom prst="line">
            <a:avLst/>
          </a:prstGeom>
          <a:noFill/>
          <a:ln w="12700">
            <a:solidFill>
              <a:srgbClr val="22D3EE">
                <a:alpha val="45000"/>
              </a:srgbClr>
            </a:solidFill>
            <a:prstDash val="solid"/>
          </a:ln>
        </p:spPr>
      </p:sp>
      <p:sp>
        <p:nvSpPr>
          <p:cNvPr id="5" name="Shape 3"/>
          <p:cNvSpPr/>
          <p:nvPr/>
        </p:nvSpPr>
        <p:spPr>
          <a:xfrm flipV="1">
            <a:off x="10154412" y="5806440"/>
            <a:ext cx="736092" cy="320040"/>
          </a:xfrm>
          <a:prstGeom prst="line">
            <a:avLst/>
          </a:prstGeom>
          <a:noFill/>
          <a:ln w="12700">
            <a:solidFill>
              <a:srgbClr val="22D3EE">
                <a:alpha val="45000"/>
              </a:srgbClr>
            </a:solidFill>
            <a:prstDash val="solid"/>
          </a:ln>
        </p:spPr>
      </p:sp>
      <p:sp>
        <p:nvSpPr>
          <p:cNvPr id="6" name="Shape 4"/>
          <p:cNvSpPr/>
          <p:nvPr/>
        </p:nvSpPr>
        <p:spPr>
          <a:xfrm>
            <a:off x="10154412" y="4846320"/>
            <a:ext cx="736092" cy="960120"/>
          </a:xfrm>
          <a:prstGeom prst="line">
            <a:avLst/>
          </a:prstGeom>
          <a:noFill/>
          <a:ln w="12700">
            <a:solidFill>
              <a:srgbClr val="22D3EE">
                <a:alpha val="45000"/>
              </a:srgbClr>
            </a:solidFill>
            <a:prstDash val="solid"/>
          </a:ln>
        </p:spPr>
      </p:sp>
      <p:sp>
        <p:nvSpPr>
          <p:cNvPr id="7" name="Shape 5"/>
          <p:cNvSpPr/>
          <p:nvPr/>
        </p:nvSpPr>
        <p:spPr>
          <a:xfrm flipV="1">
            <a:off x="10154412" y="5166360"/>
            <a:ext cx="736092" cy="960120"/>
          </a:xfrm>
          <a:prstGeom prst="line">
            <a:avLst/>
          </a:prstGeom>
          <a:noFill/>
          <a:ln w="12700">
            <a:solidFill>
              <a:srgbClr val="22D3EE">
                <a:alpha val="45000"/>
              </a:srgbClr>
            </a:solidFill>
            <a:prstDash val="solid"/>
          </a:ln>
        </p:spPr>
      </p:sp>
      <p:sp>
        <p:nvSpPr>
          <p:cNvPr id="8" name="Shape 6"/>
          <p:cNvSpPr/>
          <p:nvPr/>
        </p:nvSpPr>
        <p:spPr>
          <a:xfrm>
            <a:off x="10890504" y="5166360"/>
            <a:ext cx="630936" cy="320040"/>
          </a:xfrm>
          <a:prstGeom prst="line">
            <a:avLst/>
          </a:prstGeom>
          <a:noFill/>
          <a:ln w="12700">
            <a:solidFill>
              <a:srgbClr val="22D3EE">
                <a:alpha val="45000"/>
              </a:srgbClr>
            </a:solidFill>
            <a:prstDash val="solid"/>
          </a:ln>
        </p:spPr>
      </p:sp>
      <p:sp>
        <p:nvSpPr>
          <p:cNvPr id="9" name="Shape 7"/>
          <p:cNvSpPr/>
          <p:nvPr/>
        </p:nvSpPr>
        <p:spPr>
          <a:xfrm flipV="1">
            <a:off x="10890504" y="5486400"/>
            <a:ext cx="630936" cy="320040"/>
          </a:xfrm>
          <a:prstGeom prst="line">
            <a:avLst/>
          </a:prstGeom>
          <a:noFill/>
          <a:ln w="12700">
            <a:solidFill>
              <a:srgbClr val="22D3EE">
                <a:alpha val="45000"/>
              </a:srgbClr>
            </a:solidFill>
            <a:prstDash val="solid"/>
          </a:ln>
        </p:spPr>
      </p:sp>
      <p:sp>
        <p:nvSpPr>
          <p:cNvPr id="10" name="Shape 8"/>
          <p:cNvSpPr/>
          <p:nvPr/>
        </p:nvSpPr>
        <p:spPr>
          <a:xfrm>
            <a:off x="9349740" y="5417820"/>
            <a:ext cx="137160" cy="137160"/>
          </a:xfrm>
          <a:prstGeom prst="ellipse">
            <a:avLst/>
          </a:prstGeom>
          <a:solidFill>
            <a:srgbClr val="22D3EE"/>
          </a:solidFill>
          <a:ln/>
        </p:spPr>
      </p:sp>
      <p:sp>
        <p:nvSpPr>
          <p:cNvPr id="11" name="Shape 9"/>
          <p:cNvSpPr/>
          <p:nvPr/>
        </p:nvSpPr>
        <p:spPr>
          <a:xfrm>
            <a:off x="10108692" y="4800600"/>
            <a:ext cx="91440" cy="91440"/>
          </a:xfrm>
          <a:prstGeom prst="ellipse">
            <a:avLst/>
          </a:prstGeom>
          <a:solidFill>
            <a:srgbClr val="22D3EE"/>
          </a:solidFill>
          <a:ln/>
        </p:spPr>
      </p:sp>
      <p:sp>
        <p:nvSpPr>
          <p:cNvPr id="12" name="Shape 10"/>
          <p:cNvSpPr/>
          <p:nvPr/>
        </p:nvSpPr>
        <p:spPr>
          <a:xfrm>
            <a:off x="10108692" y="6080760"/>
            <a:ext cx="91440" cy="91440"/>
          </a:xfrm>
          <a:prstGeom prst="ellipse">
            <a:avLst/>
          </a:prstGeom>
          <a:solidFill>
            <a:srgbClr val="22D3EE"/>
          </a:solidFill>
          <a:ln/>
        </p:spPr>
      </p:sp>
      <p:sp>
        <p:nvSpPr>
          <p:cNvPr id="13" name="Shape 11"/>
          <p:cNvSpPr/>
          <p:nvPr/>
        </p:nvSpPr>
        <p:spPr>
          <a:xfrm>
            <a:off x="10844784" y="5120640"/>
            <a:ext cx="91440" cy="91440"/>
          </a:xfrm>
          <a:prstGeom prst="ellipse">
            <a:avLst/>
          </a:prstGeom>
          <a:solidFill>
            <a:srgbClr val="22D3EE"/>
          </a:solidFill>
          <a:ln/>
        </p:spPr>
      </p:sp>
      <p:sp>
        <p:nvSpPr>
          <p:cNvPr id="14" name="Shape 12"/>
          <p:cNvSpPr/>
          <p:nvPr/>
        </p:nvSpPr>
        <p:spPr>
          <a:xfrm>
            <a:off x="10844784" y="5760720"/>
            <a:ext cx="91440" cy="91440"/>
          </a:xfrm>
          <a:prstGeom prst="ellipse">
            <a:avLst/>
          </a:prstGeom>
          <a:solidFill>
            <a:srgbClr val="22D3EE"/>
          </a:solidFill>
          <a:ln/>
        </p:spPr>
      </p:sp>
      <p:sp>
        <p:nvSpPr>
          <p:cNvPr id="15" name="Shape 13"/>
          <p:cNvSpPr/>
          <p:nvPr/>
        </p:nvSpPr>
        <p:spPr>
          <a:xfrm>
            <a:off x="11452860" y="5417820"/>
            <a:ext cx="137160" cy="137160"/>
          </a:xfrm>
          <a:prstGeom prst="ellipse">
            <a:avLst/>
          </a:prstGeom>
          <a:solidFill>
            <a:srgbClr val="22D3EE"/>
          </a:solidFill>
          <a:ln/>
        </p:spPr>
      </p:sp>
      <p:sp>
        <p:nvSpPr>
          <p:cNvPr id="16" name="Text 14"/>
          <p:cNvSpPr/>
          <p:nvPr/>
        </p:nvSpPr>
        <p:spPr>
          <a:xfrm>
            <a:off x="822960" y="640080"/>
            <a:ext cx="7315200" cy="365760"/>
          </a:xfrm>
          <a:prstGeom prst="rect">
            <a:avLst/>
          </a:prstGeom>
          <a:noFill/>
          <a:ln/>
        </p:spPr>
        <p:txBody>
          <a:bodyPr wrap="square" rtlCol="0" anchor="ctr"/>
          <a:lstStyle/>
          <a:p>
            <a:pPr marL="0" indent="0">
              <a:buNone/>
            </a:pPr>
            <a:r>
              <a:rPr lang="en-US" sz="1300" b="1" kern="0" spc="300" dirty="0">
                <a:solidFill>
                  <a:srgbClr val="22D3EE"/>
                </a:solidFill>
                <a:latin typeface="Calibri" pitchFamily="34" charset="0"/>
                <a:ea typeface="Calibri" pitchFamily="34" charset="-122"/>
                <a:cs typeface="Calibri" pitchFamily="34" charset="-120"/>
              </a:rPr>
              <a:t>KEY TAKEAWAYS</a:t>
            </a:r>
            <a:endParaRPr lang="en-US" sz="1300" dirty="0"/>
          </a:p>
        </p:txBody>
      </p:sp>
      <p:sp>
        <p:nvSpPr>
          <p:cNvPr id="17" name="Text 15"/>
          <p:cNvSpPr/>
          <p:nvPr/>
        </p:nvSpPr>
        <p:spPr>
          <a:xfrm>
            <a:off x="822960" y="1005840"/>
            <a:ext cx="96012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Language, understood in four moves</a:t>
            </a:r>
            <a:endParaRPr lang="en-US" sz="3000" dirty="0"/>
          </a:p>
        </p:txBody>
      </p:sp>
      <p:sp>
        <p:nvSpPr>
          <p:cNvPr id="18" name="Shape 16"/>
          <p:cNvSpPr/>
          <p:nvPr/>
        </p:nvSpPr>
        <p:spPr>
          <a:xfrm>
            <a:off x="822960" y="2057400"/>
            <a:ext cx="5212080" cy="1417320"/>
          </a:xfrm>
          <a:prstGeom prst="roundRect">
            <a:avLst>
              <a:gd name="adj" fmla="val 6452"/>
            </a:avLst>
          </a:prstGeom>
          <a:solidFill>
            <a:srgbClr val="2A2570"/>
          </a:solidFill>
          <a:ln/>
        </p:spPr>
        <p:txBody>
          <a:bodyPr/>
          <a:lstStyle/>
          <a:p>
            <a:endParaRPr lang="en-IN" dirty="0"/>
          </a:p>
        </p:txBody>
      </p:sp>
      <p:sp>
        <p:nvSpPr>
          <p:cNvPr id="19" name="Text 17"/>
          <p:cNvSpPr/>
          <p:nvPr/>
        </p:nvSpPr>
        <p:spPr>
          <a:xfrm>
            <a:off x="1097280" y="2221992"/>
            <a:ext cx="4663440" cy="365760"/>
          </a:xfrm>
          <a:prstGeom prst="rect">
            <a:avLst/>
          </a:prstGeom>
          <a:noFill/>
          <a:ln/>
        </p:spPr>
        <p:txBody>
          <a:bodyPr wrap="square" rtlCol="0" anchor="ctr"/>
          <a:lstStyle/>
          <a:p>
            <a:pPr marL="0" indent="0">
              <a:buNone/>
            </a:pPr>
            <a:r>
              <a:rPr lang="en-US" sz="1700" b="1" dirty="0">
                <a:solidFill>
                  <a:srgbClr val="22D3EE"/>
                </a:solidFill>
                <a:latin typeface="Cambria" pitchFamily="34" charset="0"/>
                <a:ea typeface="Cambria" pitchFamily="34" charset="-122"/>
                <a:cs typeface="Cambria" pitchFamily="34" charset="-120"/>
              </a:rPr>
              <a:t>Tokenize</a:t>
            </a:r>
            <a:endParaRPr lang="en-US" sz="1700" dirty="0"/>
          </a:p>
        </p:txBody>
      </p:sp>
      <p:sp>
        <p:nvSpPr>
          <p:cNvPr id="20" name="Text 18"/>
          <p:cNvSpPr/>
          <p:nvPr/>
        </p:nvSpPr>
        <p:spPr>
          <a:xfrm>
            <a:off x="1097280" y="2624328"/>
            <a:ext cx="4663440" cy="731520"/>
          </a:xfrm>
          <a:prstGeom prst="rect">
            <a:avLst/>
          </a:prstGeom>
          <a:noFill/>
          <a:ln/>
        </p:spPr>
        <p:txBody>
          <a:bodyPr wrap="square" rtlCol="0" anchor="ctr"/>
          <a:lstStyle/>
          <a:p>
            <a:pPr marL="0" indent="0">
              <a:lnSpc>
                <a:spcPct val="130000"/>
              </a:lnSpc>
              <a:buNone/>
            </a:pPr>
            <a:r>
              <a:rPr lang="en-US" sz="1400" dirty="0">
                <a:solidFill>
                  <a:srgbClr val="C7C3F0"/>
                </a:solidFill>
                <a:latin typeface="Calibri" pitchFamily="34" charset="0"/>
                <a:ea typeface="Calibri" pitchFamily="34" charset="-122"/>
                <a:cs typeface="Calibri" pitchFamily="34" charset="-120"/>
              </a:rPr>
              <a:t>Text is split into small, model-readable units.</a:t>
            </a:r>
            <a:endParaRPr lang="en-US" sz="1400" dirty="0"/>
          </a:p>
        </p:txBody>
      </p:sp>
      <p:sp>
        <p:nvSpPr>
          <p:cNvPr id="21" name="Shape 19"/>
          <p:cNvSpPr/>
          <p:nvPr/>
        </p:nvSpPr>
        <p:spPr>
          <a:xfrm>
            <a:off x="6400800" y="2057400"/>
            <a:ext cx="5212080" cy="1417320"/>
          </a:xfrm>
          <a:prstGeom prst="roundRect">
            <a:avLst>
              <a:gd name="adj" fmla="val 6452"/>
            </a:avLst>
          </a:prstGeom>
          <a:solidFill>
            <a:srgbClr val="2A2570"/>
          </a:solidFill>
          <a:ln/>
        </p:spPr>
      </p:sp>
      <p:sp>
        <p:nvSpPr>
          <p:cNvPr id="22" name="Text 20"/>
          <p:cNvSpPr/>
          <p:nvPr/>
        </p:nvSpPr>
        <p:spPr>
          <a:xfrm>
            <a:off x="6675120" y="2221992"/>
            <a:ext cx="4663440" cy="365760"/>
          </a:xfrm>
          <a:prstGeom prst="rect">
            <a:avLst/>
          </a:prstGeom>
          <a:noFill/>
          <a:ln/>
        </p:spPr>
        <p:txBody>
          <a:bodyPr wrap="square" rtlCol="0" anchor="ctr"/>
          <a:lstStyle/>
          <a:p>
            <a:pPr marL="0" indent="0">
              <a:buNone/>
            </a:pPr>
            <a:r>
              <a:rPr lang="en-US" sz="1700" b="1" dirty="0">
                <a:solidFill>
                  <a:srgbClr val="22D3EE"/>
                </a:solidFill>
                <a:latin typeface="Cambria" pitchFamily="34" charset="0"/>
                <a:ea typeface="Cambria" pitchFamily="34" charset="-122"/>
                <a:cs typeface="Cambria" pitchFamily="34" charset="-120"/>
              </a:rPr>
              <a:t>Embed</a:t>
            </a:r>
            <a:endParaRPr lang="en-US" sz="1700" dirty="0"/>
          </a:p>
        </p:txBody>
      </p:sp>
      <p:sp>
        <p:nvSpPr>
          <p:cNvPr id="23" name="Text 21"/>
          <p:cNvSpPr/>
          <p:nvPr/>
        </p:nvSpPr>
        <p:spPr>
          <a:xfrm>
            <a:off x="6675120" y="2624328"/>
            <a:ext cx="4663440" cy="731520"/>
          </a:xfrm>
          <a:prstGeom prst="rect">
            <a:avLst/>
          </a:prstGeom>
          <a:noFill/>
          <a:ln/>
        </p:spPr>
        <p:txBody>
          <a:bodyPr wrap="square" rtlCol="0" anchor="ctr"/>
          <a:lstStyle/>
          <a:p>
            <a:pPr marL="0" indent="0">
              <a:lnSpc>
                <a:spcPct val="130000"/>
              </a:lnSpc>
              <a:buNone/>
            </a:pPr>
            <a:r>
              <a:rPr lang="en-US" sz="1400" dirty="0">
                <a:solidFill>
                  <a:srgbClr val="C7C3F0"/>
                </a:solidFill>
                <a:latin typeface="Calibri" pitchFamily="34" charset="0"/>
                <a:ea typeface="Calibri" pitchFamily="34" charset="-122"/>
                <a:cs typeface="Calibri" pitchFamily="34" charset="-120"/>
              </a:rPr>
              <a:t>Each unit becomes a vector that encodes meaning.</a:t>
            </a:r>
            <a:endParaRPr lang="en-US" sz="1400" dirty="0"/>
          </a:p>
        </p:txBody>
      </p:sp>
      <p:sp>
        <p:nvSpPr>
          <p:cNvPr id="24" name="Shape 22"/>
          <p:cNvSpPr/>
          <p:nvPr/>
        </p:nvSpPr>
        <p:spPr>
          <a:xfrm>
            <a:off x="822960" y="3703320"/>
            <a:ext cx="5212080" cy="1417320"/>
          </a:xfrm>
          <a:prstGeom prst="roundRect">
            <a:avLst>
              <a:gd name="adj" fmla="val 6452"/>
            </a:avLst>
          </a:prstGeom>
          <a:solidFill>
            <a:srgbClr val="2A2570"/>
          </a:solidFill>
          <a:ln/>
        </p:spPr>
      </p:sp>
      <p:sp>
        <p:nvSpPr>
          <p:cNvPr id="25" name="Text 23"/>
          <p:cNvSpPr/>
          <p:nvPr/>
        </p:nvSpPr>
        <p:spPr>
          <a:xfrm>
            <a:off x="1097280" y="3867912"/>
            <a:ext cx="4663440" cy="365760"/>
          </a:xfrm>
          <a:prstGeom prst="rect">
            <a:avLst/>
          </a:prstGeom>
          <a:noFill/>
          <a:ln/>
        </p:spPr>
        <p:txBody>
          <a:bodyPr wrap="square" rtlCol="0" anchor="ctr"/>
          <a:lstStyle/>
          <a:p>
            <a:pPr marL="0" indent="0">
              <a:buNone/>
            </a:pPr>
            <a:r>
              <a:rPr lang="en-US" sz="1700" b="1" dirty="0">
                <a:solidFill>
                  <a:srgbClr val="22D3EE"/>
                </a:solidFill>
                <a:latin typeface="Cambria" pitchFamily="34" charset="0"/>
                <a:ea typeface="Cambria" pitchFamily="34" charset="-122"/>
                <a:cs typeface="Cambria" pitchFamily="34" charset="-120"/>
              </a:rPr>
              <a:t>Attend</a:t>
            </a:r>
            <a:endParaRPr lang="en-US" sz="1700" dirty="0"/>
          </a:p>
        </p:txBody>
      </p:sp>
      <p:sp>
        <p:nvSpPr>
          <p:cNvPr id="26" name="Text 24"/>
          <p:cNvSpPr/>
          <p:nvPr/>
        </p:nvSpPr>
        <p:spPr>
          <a:xfrm>
            <a:off x="1097280" y="4270248"/>
            <a:ext cx="4663440" cy="731520"/>
          </a:xfrm>
          <a:prstGeom prst="rect">
            <a:avLst/>
          </a:prstGeom>
          <a:noFill/>
          <a:ln/>
        </p:spPr>
        <p:txBody>
          <a:bodyPr wrap="square" rtlCol="0" anchor="ctr"/>
          <a:lstStyle/>
          <a:p>
            <a:pPr marL="0" indent="0">
              <a:lnSpc>
                <a:spcPct val="130000"/>
              </a:lnSpc>
              <a:buNone/>
            </a:pPr>
            <a:r>
              <a:rPr lang="en-US" sz="1400" dirty="0">
                <a:solidFill>
                  <a:srgbClr val="C7C3F0"/>
                </a:solidFill>
                <a:latin typeface="Calibri" pitchFamily="34" charset="0"/>
                <a:ea typeface="Calibri" pitchFamily="34" charset="-122"/>
                <a:cs typeface="Calibri" pitchFamily="34" charset="-120"/>
              </a:rPr>
              <a:t>Self-attention weighs how every word relates to every other.</a:t>
            </a:r>
            <a:endParaRPr lang="en-US" sz="1400" dirty="0"/>
          </a:p>
        </p:txBody>
      </p:sp>
      <p:sp>
        <p:nvSpPr>
          <p:cNvPr id="27" name="Shape 25"/>
          <p:cNvSpPr/>
          <p:nvPr/>
        </p:nvSpPr>
        <p:spPr>
          <a:xfrm>
            <a:off x="6400800" y="3703320"/>
            <a:ext cx="5212080" cy="1417320"/>
          </a:xfrm>
          <a:prstGeom prst="roundRect">
            <a:avLst>
              <a:gd name="adj" fmla="val 6452"/>
            </a:avLst>
          </a:prstGeom>
          <a:solidFill>
            <a:srgbClr val="2A2570"/>
          </a:solidFill>
          <a:ln/>
        </p:spPr>
      </p:sp>
      <p:sp>
        <p:nvSpPr>
          <p:cNvPr id="28" name="Text 26"/>
          <p:cNvSpPr/>
          <p:nvPr/>
        </p:nvSpPr>
        <p:spPr>
          <a:xfrm>
            <a:off x="6675120" y="3867912"/>
            <a:ext cx="4663440" cy="365760"/>
          </a:xfrm>
          <a:prstGeom prst="rect">
            <a:avLst/>
          </a:prstGeom>
          <a:noFill/>
          <a:ln/>
        </p:spPr>
        <p:txBody>
          <a:bodyPr wrap="square" rtlCol="0" anchor="ctr"/>
          <a:lstStyle/>
          <a:p>
            <a:pPr marL="0" indent="0">
              <a:buNone/>
            </a:pPr>
            <a:r>
              <a:rPr lang="en-US" sz="1700" b="1" dirty="0">
                <a:solidFill>
                  <a:srgbClr val="22D3EE"/>
                </a:solidFill>
                <a:latin typeface="Cambria" pitchFamily="34" charset="0"/>
                <a:ea typeface="Cambria" pitchFamily="34" charset="-122"/>
                <a:cs typeface="Cambria" pitchFamily="34" charset="-120"/>
              </a:rPr>
              <a:t>Generate</a:t>
            </a:r>
            <a:endParaRPr lang="en-US" sz="1700" dirty="0"/>
          </a:p>
        </p:txBody>
      </p:sp>
      <p:sp>
        <p:nvSpPr>
          <p:cNvPr id="29" name="Text 27"/>
          <p:cNvSpPr/>
          <p:nvPr/>
        </p:nvSpPr>
        <p:spPr>
          <a:xfrm>
            <a:off x="6675120" y="4270248"/>
            <a:ext cx="4663440" cy="731520"/>
          </a:xfrm>
          <a:prstGeom prst="rect">
            <a:avLst/>
          </a:prstGeom>
          <a:noFill/>
          <a:ln/>
        </p:spPr>
        <p:txBody>
          <a:bodyPr wrap="square" rtlCol="0" anchor="ctr"/>
          <a:lstStyle/>
          <a:p>
            <a:pPr marL="0" indent="0">
              <a:lnSpc>
                <a:spcPct val="130000"/>
              </a:lnSpc>
              <a:buNone/>
            </a:pPr>
            <a:r>
              <a:rPr lang="en-US" sz="1300" dirty="0">
                <a:solidFill>
                  <a:srgbClr val="C7C3F0"/>
                </a:solidFill>
                <a:latin typeface="Calibri" pitchFamily="34" charset="0"/>
                <a:ea typeface="Calibri" pitchFamily="34" charset="-122"/>
                <a:cs typeface="Calibri" pitchFamily="34" charset="-120"/>
              </a:rPr>
              <a:t>The model predicts one likely next word at a time.</a:t>
            </a:r>
            <a:endParaRPr lang="en-US" sz="1300" dirty="0"/>
          </a:p>
        </p:txBody>
      </p:sp>
      <p:sp>
        <p:nvSpPr>
          <p:cNvPr id="30" name="Text 28"/>
          <p:cNvSpPr/>
          <p:nvPr/>
        </p:nvSpPr>
        <p:spPr>
          <a:xfrm>
            <a:off x="822960" y="5989320"/>
            <a:ext cx="8961120" cy="548640"/>
          </a:xfrm>
          <a:prstGeom prst="rect">
            <a:avLst/>
          </a:prstGeom>
          <a:noFill/>
          <a:ln/>
        </p:spPr>
        <p:txBody>
          <a:bodyPr wrap="square" rtlCol="0" anchor="ctr"/>
          <a:lstStyle/>
          <a:p>
            <a:pPr marL="0" indent="0">
              <a:buNone/>
            </a:pPr>
            <a:r>
              <a:rPr lang="en-US" sz="1350" i="1" dirty="0">
                <a:solidFill>
                  <a:srgbClr val="C7C3F0"/>
                </a:solidFill>
                <a:latin typeface="Calibri" pitchFamily="34" charset="0"/>
                <a:ea typeface="Calibri" pitchFamily="34" charset="-122"/>
                <a:cs typeface="Calibri" pitchFamily="34" charset="-120"/>
              </a:rPr>
              <a:t>None of it involves the model "knowing" language the way people do — it's pattern and probability, learned from enormous amounts of text.</a:t>
            </a:r>
            <a:endParaRPr lang="en-US" sz="1350" dirty="0"/>
          </a:p>
        </p:txBody>
      </p:sp>
      <p:sp>
        <p:nvSpPr>
          <p:cNvPr id="31" name="Text 29"/>
          <p:cNvSpPr/>
          <p:nvPr/>
        </p:nvSpPr>
        <p:spPr>
          <a:xfrm>
            <a:off x="11521440" y="6473952"/>
            <a:ext cx="457200" cy="274320"/>
          </a:xfrm>
          <a:prstGeom prst="rect">
            <a:avLst/>
          </a:prstGeom>
          <a:noFill/>
          <a:ln/>
        </p:spPr>
        <p:txBody>
          <a:bodyPr wrap="square" rtlCol="0" anchor="ctr"/>
          <a:lstStyle/>
          <a:p>
            <a:pPr marL="0" indent="0" algn="r">
              <a:buNone/>
            </a:pPr>
            <a:r>
              <a:rPr lang="en-US" sz="1000" dirty="0">
                <a:solidFill>
                  <a:srgbClr val="C7C3F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a:extLst>
            <a:ext uri="{FF2B5EF4-FFF2-40B4-BE49-F238E27FC236}">
              <a16:creationId xmlns:a16="http://schemas.microsoft.com/office/drawing/2014/main" id="{8ABDE140-D5BA-CB1C-11CA-CD4709DD3300}"/>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6CFA84D9-1486-E491-49F7-B3E92F4F4B36}"/>
              </a:ext>
            </a:extLst>
          </p:cNvPr>
          <p:cNvSpPr txBox="1"/>
          <p:nvPr/>
        </p:nvSpPr>
        <p:spPr>
          <a:xfrm>
            <a:off x="4109421" y="2413337"/>
            <a:ext cx="5249731" cy="1015663"/>
          </a:xfrm>
          <a:prstGeom prst="rect">
            <a:avLst/>
          </a:prstGeom>
          <a:noFill/>
        </p:spPr>
        <p:txBody>
          <a:bodyPr wrap="square" rtlCol="0">
            <a:spAutoFit/>
          </a:bodyPr>
          <a:lstStyle/>
          <a:p>
            <a:r>
              <a:rPr lang="en-IN" sz="6000" dirty="0">
                <a:solidFill>
                  <a:schemeClr val="accent4">
                    <a:lumMod val="60000"/>
                    <a:lumOff val="40000"/>
                  </a:schemeClr>
                </a:solidFill>
                <a:latin typeface="Bauhaus 93" panose="04030905020B02020C02" pitchFamily="82" charset="0"/>
              </a:rPr>
              <a:t>THANK YOU</a:t>
            </a:r>
          </a:p>
        </p:txBody>
      </p:sp>
    </p:spTree>
    <p:extLst>
      <p:ext uri="{BB962C8B-B14F-4D97-AF65-F5344CB8AC3E}">
        <p14:creationId xmlns:p14="http://schemas.microsoft.com/office/powerpoint/2010/main" val="2592818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1466</Words>
  <Application>Microsoft Office PowerPoint</Application>
  <PresentationFormat>Widescreen</PresentationFormat>
  <Paragraphs>156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Bauhaus 93</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thug life</cp:lastModifiedBy>
  <cp:revision>2</cp:revision>
  <dcterms:created xsi:type="dcterms:W3CDTF">2026-08-29T07:32:46Z</dcterms:created>
  <dcterms:modified xsi:type="dcterms:W3CDTF">2026-08-29T07:57:56Z</dcterms:modified>
</cp:coreProperties>
</file>